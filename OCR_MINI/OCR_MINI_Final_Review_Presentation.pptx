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175" autoAdjust="0"/>
  </p:normalViewPr>
  <p:slideViewPr>
    <p:cSldViewPr snapToGrid="0" snapToObjects="1">
      <p:cViewPr varScale="1">
        <p:scale>
          <a:sx n="58" d="100"/>
          <a:sy n="58" d="100"/>
        </p:scale>
        <p:origin x="1546"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524224-B812-4381-A4BC-70D988ACCA32}" type="datetimeFigureOut">
              <a:rPr lang="en-IN" smtClean="0"/>
              <a:t>27-10-2026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2EC41-F95D-4170-A8B1-4052B0C43F37}" type="slidenum">
              <a:rPr lang="en-IN" smtClean="0"/>
              <a:t>‹#›</a:t>
            </a:fld>
            <a:endParaRPr lang="en-IN"/>
          </a:p>
        </p:txBody>
      </p:sp>
    </p:spTree>
    <p:extLst>
      <p:ext uri="{BB962C8B-B14F-4D97-AF65-F5344CB8AC3E}">
        <p14:creationId xmlns:p14="http://schemas.microsoft.com/office/powerpoint/2010/main" val="3932277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1 — OCR_MINI: Image to Text to Markdown</a:t>
            </a:r>
          </a:p>
          <a:p>
            <a:r>
              <a:rPr lang="en-IN" dirty="0"/>
              <a:t>What to explain: Your project extracts printed or handwritten text from images, lets the user edit the output, and exports it as Markdown.</a:t>
            </a:r>
          </a:p>
          <a:p>
            <a:r>
              <a:rPr lang="en-IN" dirty="0"/>
              <a:t>Say this:</a:t>
            </a:r>
          </a:p>
          <a:p>
            <a:r>
              <a:rPr lang="en-IN" dirty="0"/>
              <a:t>“My project is OCR_MINI, a web-based optical character recognition application. It uses </a:t>
            </a:r>
            <a:r>
              <a:rPr lang="en-IN" dirty="0" err="1"/>
              <a:t>EasyOCR</a:t>
            </a:r>
            <a:r>
              <a:rPr lang="en-IN" dirty="0"/>
              <a:t> for printed text and a fine-tuned </a:t>
            </a:r>
            <a:r>
              <a:rPr lang="en-IN" dirty="0" err="1"/>
              <a:t>TrOCR</a:t>
            </a:r>
            <a:r>
              <a:rPr lang="en-IN" dirty="0"/>
              <a:t> model for handwriting. The application is developed using Flask and provides an editable result with Markdown export.”</a:t>
            </a:r>
          </a:p>
          <a:p>
            <a:r>
              <a:rPr lang="en-IN" dirty="0"/>
              <a:t>Questions they may ask</a:t>
            </a:r>
          </a:p>
          <a:p>
            <a:pPr lvl="0"/>
            <a:r>
              <a:rPr lang="en-IN" dirty="0"/>
              <a:t>What is OCR?</a:t>
            </a:r>
          </a:p>
          <a:p>
            <a:pPr lvl="0"/>
            <a:r>
              <a:rPr lang="en-IN" dirty="0"/>
              <a:t>Why did you choose this project?</a:t>
            </a:r>
          </a:p>
          <a:p>
            <a:pPr lvl="0"/>
            <a:r>
              <a:rPr lang="en-IN" dirty="0"/>
              <a:t>What problem does your project solve?</a:t>
            </a:r>
          </a:p>
          <a:p>
            <a:pPr lvl="0"/>
            <a:r>
              <a:rPr lang="en-IN" dirty="0"/>
              <a:t>Which technologies did you use?</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1</a:t>
            </a:fld>
            <a:endParaRPr lang="en-IN"/>
          </a:p>
        </p:txBody>
      </p:sp>
    </p:spTree>
    <p:extLst>
      <p:ext uri="{BB962C8B-B14F-4D97-AF65-F5344CB8AC3E}">
        <p14:creationId xmlns:p14="http://schemas.microsoft.com/office/powerpoint/2010/main" val="714089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Image-based text is not immediately editable. Manually typing it into a document takes time.</a:t>
            </a:r>
          </a:p>
          <a:p>
            <a:r>
              <a:rPr lang="en-IN" dirty="0"/>
              <a:t>Say this:</a:t>
            </a:r>
          </a:p>
          <a:p>
            <a:r>
              <a:rPr lang="en-IN" dirty="0"/>
              <a:t>“The main problem is that text in scanned documents and photographs is difficult to reuse directly. Printed text and handwriting also have different recognition challenges. My project provides a single workflow for extracting, correcting, and exporting that text.”</a:t>
            </a:r>
          </a:p>
          <a:p>
            <a:r>
              <a:rPr lang="en-IN" dirty="0"/>
              <a:t>Questions they may ask</a:t>
            </a:r>
          </a:p>
          <a:p>
            <a:pPr lvl="0"/>
            <a:r>
              <a:rPr lang="en-IN" dirty="0"/>
              <a:t>Why is manual transcription a problem?</a:t>
            </a:r>
          </a:p>
          <a:p>
            <a:pPr lvl="0"/>
            <a:r>
              <a:rPr lang="en-IN" dirty="0"/>
              <a:t>What are the limitations of existing OCR tools?</a:t>
            </a:r>
          </a:p>
          <a:p>
            <a:pPr lvl="0"/>
            <a:r>
              <a:rPr lang="en-IN" dirty="0"/>
              <a:t>Who can benefit from your application?</a:t>
            </a:r>
          </a:p>
          <a:p>
            <a:pPr lvl="0"/>
            <a:r>
              <a:rPr lang="en-IN" dirty="0"/>
              <a:t>What is the main problem statement?</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2</a:t>
            </a:fld>
            <a:endParaRPr lang="en-IN"/>
          </a:p>
        </p:txBody>
      </p:sp>
    </p:spTree>
    <p:extLst>
      <p:ext uri="{BB962C8B-B14F-4D97-AF65-F5344CB8AC3E}">
        <p14:creationId xmlns:p14="http://schemas.microsoft.com/office/powerpoint/2010/main" val="2083398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Your objectives are image upload, two OCR modes, editable results, Markdown export, and quantitative handwriting evaluation.</a:t>
            </a:r>
          </a:p>
          <a:p>
            <a:r>
              <a:rPr lang="en-IN" dirty="0"/>
              <a:t>Say this:</a:t>
            </a:r>
          </a:p>
          <a:p>
            <a:r>
              <a:rPr lang="en-IN" dirty="0"/>
              <a:t>“The project objectives are to implement an image-upload interface, integrate two OCR engines, allow correction of recognized text, export Markdown, and evaluate handwriting recognition using CER, WER, and exact-match rate.”</a:t>
            </a:r>
          </a:p>
          <a:p>
            <a:r>
              <a:rPr lang="en-IN" dirty="0"/>
              <a:t>Questions they may ask</a:t>
            </a:r>
          </a:p>
          <a:p>
            <a:pPr lvl="0"/>
            <a:r>
              <a:rPr lang="en-IN" dirty="0"/>
              <a:t>What are your project objectives?</a:t>
            </a:r>
          </a:p>
          <a:p>
            <a:pPr lvl="0"/>
            <a:r>
              <a:rPr lang="en-IN" dirty="0"/>
              <a:t>Which features are implemented?</a:t>
            </a:r>
          </a:p>
          <a:p>
            <a:pPr lvl="0"/>
            <a:r>
              <a:rPr lang="en-IN" dirty="0"/>
              <a:t>What is outside the current scope?</a:t>
            </a:r>
          </a:p>
          <a:p>
            <a:pPr lvl="0"/>
            <a:r>
              <a:rPr lang="en-IN" dirty="0"/>
              <a:t>How do you evaluate the model?</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3</a:t>
            </a:fld>
            <a:endParaRPr lang="en-IN"/>
          </a:p>
        </p:txBody>
      </p:sp>
    </p:spTree>
    <p:extLst>
      <p:ext uri="{BB962C8B-B14F-4D97-AF65-F5344CB8AC3E}">
        <p14:creationId xmlns:p14="http://schemas.microsoft.com/office/powerpoint/2010/main" val="3455555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The user uploads an image, selects the recognition mode, reviews the output, and downloads the Markdown file.</a:t>
            </a:r>
          </a:p>
          <a:p>
            <a:r>
              <a:rPr lang="en-IN" dirty="0"/>
              <a:t>Say this:</a:t>
            </a:r>
          </a:p>
          <a:p>
            <a:r>
              <a:rPr lang="en-IN" dirty="0"/>
              <a:t>“The workflow starts with image upload. The user selects printed or handwriting mode, and the corresponding OCR engine processes the image. The recognized text is then displayed for correction before Markdown conversion and download.”</a:t>
            </a:r>
          </a:p>
          <a:p>
            <a:r>
              <a:rPr lang="en-IN" dirty="0"/>
              <a:t>Questions they may ask</a:t>
            </a:r>
          </a:p>
          <a:p>
            <a:pPr lvl="0"/>
            <a:r>
              <a:rPr lang="en-IN" dirty="0"/>
              <a:t>Explain your complete workflow.</a:t>
            </a:r>
          </a:p>
          <a:p>
            <a:pPr lvl="0"/>
            <a:r>
              <a:rPr lang="en-IN" dirty="0"/>
              <a:t>Why can the user edit the output?</a:t>
            </a:r>
          </a:p>
          <a:p>
            <a:pPr lvl="0"/>
            <a:r>
              <a:rPr lang="en-IN" dirty="0"/>
              <a:t>What happens if OCR recognizes the text incorrectly?</a:t>
            </a:r>
          </a:p>
          <a:p>
            <a:pPr lvl="0"/>
            <a:r>
              <a:rPr lang="en-IN" dirty="0"/>
              <a:t>Are OCR and Markdown conversion the same process?</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4</a:t>
            </a:fld>
            <a:endParaRPr lang="en-IN"/>
          </a:p>
        </p:txBody>
      </p:sp>
    </p:spTree>
    <p:extLst>
      <p:ext uri="{BB962C8B-B14F-4D97-AF65-F5344CB8AC3E}">
        <p14:creationId xmlns:p14="http://schemas.microsoft.com/office/powerpoint/2010/main" val="1694796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The frontend, Flask backend, OCR engines, and output formatter have separate responsibilities.</a:t>
            </a:r>
          </a:p>
          <a:p>
            <a:r>
              <a:rPr lang="en-IN" dirty="0"/>
              <a:t>Say this:</a:t>
            </a:r>
          </a:p>
          <a:p>
            <a:r>
              <a:rPr lang="en-IN" dirty="0"/>
              <a:t>“The frontend provides the user interface. Flask handles the requests and coordinates the processing. Depending on the selected mode, the image is sent to </a:t>
            </a:r>
            <a:r>
              <a:rPr lang="en-IN" dirty="0" err="1"/>
              <a:t>EasyOCR</a:t>
            </a:r>
            <a:r>
              <a:rPr lang="en-IN" dirty="0"/>
              <a:t> or </a:t>
            </a:r>
            <a:r>
              <a:rPr lang="en-IN" dirty="0" err="1"/>
              <a:t>TrOCR</a:t>
            </a:r>
            <a:r>
              <a:rPr lang="en-IN" dirty="0"/>
              <a:t>. Both paths return recognized text to the common editing and Markdown-export workflow.”</a:t>
            </a:r>
          </a:p>
          <a:p>
            <a:r>
              <a:rPr lang="en-IN" dirty="0"/>
              <a:t>Questions they may ask</a:t>
            </a:r>
          </a:p>
          <a:p>
            <a:pPr lvl="0"/>
            <a:r>
              <a:rPr lang="en-IN" dirty="0"/>
              <a:t>Why did you use Flask?</a:t>
            </a:r>
          </a:p>
          <a:p>
            <a:pPr lvl="0"/>
            <a:r>
              <a:rPr lang="en-IN" dirty="0"/>
              <a:t>What is the difference between frontend and backend?</a:t>
            </a:r>
          </a:p>
          <a:p>
            <a:pPr lvl="0"/>
            <a:r>
              <a:rPr lang="en-IN" dirty="0"/>
              <a:t>How does Flask communicate with the OCR model?</a:t>
            </a:r>
          </a:p>
          <a:p>
            <a:pPr lvl="0"/>
            <a:r>
              <a:rPr lang="en-IN" dirty="0"/>
              <a:t>Why did you use two OCR engines?</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5</a:t>
            </a:fld>
            <a:endParaRPr lang="en-IN"/>
          </a:p>
        </p:txBody>
      </p:sp>
    </p:spTree>
    <p:extLst>
      <p:ext uri="{BB962C8B-B14F-4D97-AF65-F5344CB8AC3E}">
        <p14:creationId xmlns:p14="http://schemas.microsoft.com/office/powerpoint/2010/main" val="1284920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The IAM dataset provides handwritten images with reference transcriptions. </a:t>
            </a:r>
            <a:r>
              <a:rPr lang="en-IN" dirty="0" err="1"/>
              <a:t>TrOCR</a:t>
            </a:r>
            <a:r>
              <a:rPr lang="en-IN" dirty="0"/>
              <a:t> is fine-tuned on the training split.</a:t>
            </a:r>
          </a:p>
          <a:p>
            <a:r>
              <a:rPr lang="en-IN" dirty="0"/>
              <a:t>Dataset split</a:t>
            </a:r>
          </a:p>
          <a:p>
            <a:r>
              <a:rPr lang="en-IN" dirty="0"/>
              <a:t>Number of images</a:t>
            </a:r>
          </a:p>
          <a:p>
            <a:r>
              <a:rPr lang="en-IN" dirty="0"/>
              <a:t>Training</a:t>
            </a:r>
          </a:p>
          <a:p>
            <a:r>
              <a:rPr lang="en-IN" dirty="0"/>
              <a:t>6,482</a:t>
            </a:r>
          </a:p>
          <a:p>
            <a:r>
              <a:rPr lang="en-IN" dirty="0"/>
              <a:t>Validation</a:t>
            </a:r>
          </a:p>
          <a:p>
            <a:r>
              <a:rPr lang="en-IN" dirty="0"/>
              <a:t>976</a:t>
            </a:r>
          </a:p>
          <a:p>
            <a:r>
              <a:rPr lang="en-IN" dirty="0"/>
              <a:t>Testing</a:t>
            </a:r>
          </a:p>
          <a:p>
            <a:r>
              <a:rPr lang="en-IN" dirty="0"/>
              <a:t>2,915</a:t>
            </a:r>
          </a:p>
          <a:p>
            <a:r>
              <a:rPr lang="en-IN" dirty="0"/>
              <a:t>Say this:</a:t>
            </a:r>
          </a:p>
          <a:p>
            <a:r>
              <a:rPr lang="en-IN" dirty="0"/>
              <a:t>“I used the IAM handwriting dataset because it contains handwritten text images with corresponding transcriptions. The </a:t>
            </a:r>
            <a:r>
              <a:rPr lang="en-IN" dirty="0" err="1"/>
              <a:t>TrOCR</a:t>
            </a:r>
            <a:r>
              <a:rPr lang="en-IN" dirty="0"/>
              <a:t> model uses a vision encoder to extract image features and a text decoder to generate the recognized sequence. Fine-tuning adapts the pretrained model to the handwriting task.”</a:t>
            </a:r>
          </a:p>
          <a:p>
            <a:r>
              <a:rPr lang="en-IN" dirty="0"/>
              <a:t>Questions they may ask</a:t>
            </a:r>
          </a:p>
          <a:p>
            <a:pPr lvl="0"/>
            <a:r>
              <a:rPr lang="en-IN" dirty="0"/>
              <a:t>What is the IAM dataset?</a:t>
            </a:r>
          </a:p>
          <a:p>
            <a:pPr lvl="0"/>
            <a:r>
              <a:rPr lang="en-IN" dirty="0"/>
              <a:t>What does </a:t>
            </a:r>
            <a:r>
              <a:rPr lang="en-IN" dirty="0" err="1"/>
              <a:t>TrOCR</a:t>
            </a:r>
            <a:r>
              <a:rPr lang="en-IN" dirty="0"/>
              <a:t> stand for?</a:t>
            </a:r>
          </a:p>
          <a:p>
            <a:pPr lvl="0"/>
            <a:r>
              <a:rPr lang="en-IN" dirty="0"/>
              <a:t>Explain the encoder–decoder architecture.</a:t>
            </a:r>
          </a:p>
          <a:p>
            <a:pPr lvl="0"/>
            <a:r>
              <a:rPr lang="en-IN" dirty="0"/>
              <a:t>What is fine-tuning?</a:t>
            </a:r>
          </a:p>
          <a:p>
            <a:pPr lvl="0"/>
            <a:r>
              <a:rPr lang="en-IN" dirty="0"/>
              <a:t>Why do you need training, validation, and test splits?</a:t>
            </a:r>
          </a:p>
          <a:p>
            <a:pPr lvl="0"/>
            <a:r>
              <a:rPr lang="en-IN" dirty="0"/>
              <a:t>Why does CPU inference take so long?</a:t>
            </a:r>
          </a:p>
          <a:p>
            <a:r>
              <a:rPr lang="en-IN" dirty="0"/>
              <a:t>Remember: the encoder processes visual information; the decoder generates text tokens. Fine-tuning adjusts pretrained model parameters using task-specific examples.</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6</a:t>
            </a:fld>
            <a:endParaRPr lang="en-IN"/>
          </a:p>
        </p:txBody>
      </p:sp>
    </p:spTree>
    <p:extLst>
      <p:ext uri="{BB962C8B-B14F-4D97-AF65-F5344CB8AC3E}">
        <p14:creationId xmlns:p14="http://schemas.microsoft.com/office/powerpoint/2010/main" val="4162030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You evaluated the handwriting model against the reference transcriptions in the held-out IAM test split.</a:t>
            </a:r>
          </a:p>
          <a:p>
            <a:r>
              <a:rPr lang="en-IN" dirty="0"/>
              <a:t>The key metrics are:</a:t>
            </a:r>
          </a:p>
          <a:p>
            <a:pPr lvl="0"/>
            <a:r>
              <a:rPr lang="en-IN" dirty="0"/>
              <a:t>CER: Character-level edit errors divided by the number of reference characters.</a:t>
            </a:r>
          </a:p>
          <a:p>
            <a:pPr lvl="0"/>
            <a:r>
              <a:rPr lang="en-IN" dirty="0"/>
              <a:t>WER: Word-level edit errors divided by the number of reference words.</a:t>
            </a:r>
          </a:p>
          <a:p>
            <a:pPr lvl="0"/>
            <a:r>
              <a:rPr lang="en-IN" dirty="0"/>
              <a:t>Exact-match rate: Percentage of complete predictions matching their reference after the evaluation script’s normalization.</a:t>
            </a:r>
          </a:p>
          <a:p>
            <a:r>
              <a:rPr lang="en-IN" dirty="0"/>
              <a:t>Questions they may ask</a:t>
            </a:r>
          </a:p>
          <a:p>
            <a:pPr lvl="0"/>
            <a:r>
              <a:rPr lang="en-IN" dirty="0"/>
              <a:t>What is CER?</a:t>
            </a:r>
          </a:p>
          <a:p>
            <a:pPr lvl="0"/>
            <a:r>
              <a:rPr lang="en-IN" dirty="0"/>
              <a:t>What is WER?</a:t>
            </a:r>
          </a:p>
          <a:p>
            <a:pPr lvl="0"/>
            <a:r>
              <a:rPr lang="en-IN" dirty="0"/>
              <a:t>What do substitution, deletion, and insertion mean?</a:t>
            </a:r>
          </a:p>
          <a:p>
            <a:pPr lvl="0"/>
            <a:r>
              <a:rPr lang="en-IN" dirty="0"/>
              <a:t>Why do you need exact-match rate in addition to CER?</a:t>
            </a:r>
          </a:p>
          <a:p>
            <a:pPr lvl="0"/>
            <a:r>
              <a:rPr lang="en-IN" dirty="0"/>
              <a:t>Why should test data be kept separate from training?</a:t>
            </a:r>
          </a:p>
          <a:p>
            <a:r>
              <a:rPr lang="en-IN" dirty="0"/>
              <a:t>For CER and WER, lower is better. For exact-match rate, higher is better.</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7</a:t>
            </a:fld>
            <a:endParaRPr lang="en-IN"/>
          </a:p>
        </p:txBody>
      </p:sp>
    </p:spTree>
    <p:extLst>
      <p:ext uri="{BB962C8B-B14F-4D97-AF65-F5344CB8AC3E}">
        <p14:creationId xmlns:p14="http://schemas.microsoft.com/office/powerpoint/2010/main" val="1672975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Results and Evaluation</a:t>
            </a:r>
          </a:p>
          <a:p>
            <a:r>
              <a:rPr lang="en-IN" dirty="0"/>
              <a:t>This is one of the most important slides. Your actual results are included in the updated PowerPoint.</a:t>
            </a:r>
          </a:p>
          <a:p>
            <a:r>
              <a:rPr lang="en-IN" dirty="0"/>
              <a:t>Character Error Rate</a:t>
            </a:r>
          </a:p>
          <a:p>
            <a:r>
              <a:rPr lang="en-IN" b="1" dirty="0"/>
              <a:t>6.44%</a:t>
            </a:r>
          </a:p>
          <a:p>
            <a:r>
              <a:rPr lang="en-IN" dirty="0"/>
              <a:t>Word Error Rate</a:t>
            </a:r>
          </a:p>
          <a:p>
            <a:r>
              <a:rPr lang="en-IN" b="1" dirty="0"/>
              <a:t>14.77%</a:t>
            </a:r>
          </a:p>
          <a:p>
            <a:r>
              <a:rPr lang="en-IN" dirty="0"/>
              <a:t>Exact-match rate</a:t>
            </a:r>
          </a:p>
          <a:p>
            <a:r>
              <a:rPr lang="en-IN" b="1" dirty="0"/>
              <a:t>38.15%</a:t>
            </a:r>
          </a:p>
          <a:p>
            <a:r>
              <a:rPr lang="en-IN" dirty="0"/>
              <a:t>Successful test images</a:t>
            </a:r>
          </a:p>
          <a:p>
            <a:r>
              <a:rPr lang="en-IN" b="1" dirty="0"/>
              <a:t>2,915 / 2,915</a:t>
            </a:r>
          </a:p>
          <a:p>
            <a:r>
              <a:rPr lang="en-IN" dirty="0"/>
              <a:t>Say this:</a:t>
            </a:r>
          </a:p>
          <a:p>
            <a:r>
              <a:rPr lang="en-IN" dirty="0"/>
              <a:t>“I evaluated the model on 2,915 IAM test images. All images were processed successfully, with zero failed images. The CER was 6.44%, WER was 14.77%, and exact-match rate was 38.15%. These metrics show that character-level errors can be relatively low even when complete transcription matches are less frequent.”</a:t>
            </a:r>
          </a:p>
          <a:p>
            <a:r>
              <a:rPr lang="en-IN" dirty="0"/>
              <a:t>Questions they may ask</a:t>
            </a:r>
          </a:p>
          <a:p>
            <a:pPr lvl="0"/>
            <a:r>
              <a:rPr lang="en-IN" dirty="0"/>
              <a:t>Is a CER of 6.44% good?</a:t>
            </a:r>
          </a:p>
          <a:p>
            <a:pPr lvl="0"/>
            <a:r>
              <a:rPr lang="en-IN" dirty="0"/>
              <a:t>Why is WER higher than CER?</a:t>
            </a:r>
          </a:p>
          <a:p>
            <a:pPr lvl="0"/>
            <a:r>
              <a:rPr lang="en-IN" dirty="0"/>
              <a:t>Why is exact-match rate only 38.15%?</a:t>
            </a:r>
          </a:p>
          <a:p>
            <a:pPr lvl="0"/>
            <a:r>
              <a:rPr lang="en-IN" dirty="0"/>
              <a:t>Does processing all images successfully mean all predictions were correct?</a:t>
            </a:r>
          </a:p>
          <a:p>
            <a:pPr lvl="0"/>
            <a:r>
              <a:rPr lang="en-IN" dirty="0"/>
              <a:t>How long did evaluation take?</a:t>
            </a:r>
          </a:p>
          <a:p>
            <a:r>
              <a:rPr lang="en-IN" dirty="0"/>
              <a:t>Important distinctions:</a:t>
            </a:r>
          </a:p>
          <a:p>
            <a:pPr lvl="0"/>
            <a:r>
              <a:rPr lang="en-IN" dirty="0"/>
              <a:t>A successfully processed image is not necessarily a correctly recognized image.</a:t>
            </a:r>
          </a:p>
          <a:p>
            <a:pPr lvl="0"/>
            <a:r>
              <a:rPr lang="en-IN" dirty="0"/>
              <a:t>CER of 6.44% does not mean exact-match accuracy is 93.56%.</a:t>
            </a:r>
          </a:p>
          <a:p>
            <a:pPr lvl="0"/>
            <a:r>
              <a:rPr lang="en-IN" dirty="0"/>
              <a:t>Your evaluation took about 294.6 minutes, or 4 hours 55 minutes, on your local CPU setup.</a:t>
            </a:r>
          </a:p>
          <a:p>
            <a:r>
              <a:rPr lang="en-IN" dirty="0"/>
              <a:t>Avoid claiming that your model is better than another OCR model unless you have performed a comparable evaluation of both.</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8</a:t>
            </a:fld>
            <a:endParaRPr lang="en-IN"/>
          </a:p>
        </p:txBody>
      </p:sp>
    </p:spTree>
    <p:extLst>
      <p:ext uri="{BB962C8B-B14F-4D97-AF65-F5344CB8AC3E}">
        <p14:creationId xmlns:p14="http://schemas.microsoft.com/office/powerpoint/2010/main" val="3076098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to explain: Your contribution is the integration and workflow, not inventing the OCR architectures.</a:t>
            </a:r>
          </a:p>
          <a:p>
            <a:r>
              <a:rPr lang="en-IN" dirty="0"/>
              <a:t>Say this:</a:t>
            </a:r>
          </a:p>
          <a:p>
            <a:r>
              <a:rPr lang="en-IN" dirty="0"/>
              <a:t>“The practical contribution of this project is integrating printed-text and handwriting recognition into one web application. It combines handwriting-model fine-tuning, editable OCR output, Markdown export, and quantitative evaluation in a lightweight application.”</a:t>
            </a:r>
          </a:p>
          <a:p>
            <a:r>
              <a:rPr lang="en-IN" dirty="0"/>
              <a:t>Questions they may ask</a:t>
            </a:r>
          </a:p>
          <a:p>
            <a:pPr lvl="0"/>
            <a:r>
              <a:rPr lang="en-IN" dirty="0"/>
              <a:t>What is innovative about your project?</a:t>
            </a:r>
          </a:p>
          <a:p>
            <a:pPr lvl="0"/>
            <a:r>
              <a:rPr lang="en-IN" dirty="0"/>
              <a:t>How is it different from existing OCR tools?</a:t>
            </a:r>
          </a:p>
          <a:p>
            <a:pPr lvl="0"/>
            <a:r>
              <a:rPr lang="en-IN" dirty="0"/>
              <a:t>Why should someone use your application?</a:t>
            </a:r>
          </a:p>
          <a:p>
            <a:pPr lvl="0"/>
            <a:r>
              <a:rPr lang="en-IN" dirty="0"/>
              <a:t>Did you develop </a:t>
            </a:r>
            <a:r>
              <a:rPr lang="en-IN" dirty="0" err="1"/>
              <a:t>EasyOCR</a:t>
            </a:r>
            <a:r>
              <a:rPr lang="en-IN" dirty="0"/>
              <a:t> or </a:t>
            </a:r>
            <a:r>
              <a:rPr lang="en-IN" dirty="0" err="1"/>
              <a:t>TrOCR</a:t>
            </a:r>
            <a:r>
              <a:rPr lang="en-IN" dirty="0"/>
              <a:t> yourself?</a:t>
            </a:r>
          </a:p>
          <a:p>
            <a:r>
              <a:rPr lang="en-IN" dirty="0"/>
              <a:t>Be honest: you integrated existing technologies and fine-tuned the handwriting model. Your contribution is the application, integration, and evaluation.</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9</a:t>
            </a:fld>
            <a:endParaRPr lang="en-IN"/>
          </a:p>
        </p:txBody>
      </p:sp>
    </p:spTree>
    <p:extLst>
      <p:ext uri="{BB962C8B-B14F-4D97-AF65-F5344CB8AC3E}">
        <p14:creationId xmlns:p14="http://schemas.microsoft.com/office/powerpoint/2010/main" val="795711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Limitations and Future Work</a:t>
            </a:r>
          </a:p>
          <a:p>
            <a:r>
              <a:rPr lang="en-IN" dirty="0"/>
              <a:t>What to explain: OCR is not perfect, and the model can struggle with writing styles that differ from its training data.</a:t>
            </a:r>
          </a:p>
          <a:p>
            <a:r>
              <a:rPr lang="en-IN" dirty="0"/>
              <a:t>Say this:</a:t>
            </a:r>
          </a:p>
          <a:p>
            <a:r>
              <a:rPr lang="en-IN" dirty="0"/>
              <a:t>“The current system has limitations with decorative cursive handwriting, low-quality images, and complex layouts. CPU inference is also time-consuming. Future work can improve preprocessing, line detection, handwriting diversity, confidence warnings, and layout extraction.”</a:t>
            </a:r>
          </a:p>
          <a:p>
            <a:r>
              <a:rPr lang="en-IN" dirty="0"/>
              <a:t>Questions they may ask</a:t>
            </a:r>
          </a:p>
          <a:p>
            <a:pPr lvl="0"/>
            <a:r>
              <a:rPr lang="en-IN" dirty="0"/>
              <a:t>Why does the model fail on decorative cursive?</a:t>
            </a:r>
          </a:p>
          <a:p>
            <a:pPr lvl="0"/>
            <a:r>
              <a:rPr lang="en-IN" dirty="0"/>
              <a:t>How would you improve accuracy?</a:t>
            </a:r>
          </a:p>
          <a:p>
            <a:pPr lvl="0"/>
            <a:r>
              <a:rPr lang="en-IN" dirty="0"/>
              <a:t>How would you support more languages?</a:t>
            </a:r>
          </a:p>
          <a:p>
            <a:pPr lvl="0"/>
            <a:r>
              <a:rPr lang="en-IN" dirty="0"/>
              <a:t>What are the current limitations?</a:t>
            </a:r>
          </a:p>
          <a:p>
            <a:pPr lvl="0"/>
            <a:r>
              <a:rPr lang="en-IN" dirty="0"/>
              <a:t>What would you do if you had another month?</a:t>
            </a:r>
          </a:p>
          <a:p>
            <a:r>
              <a:rPr lang="en-IN" dirty="0"/>
              <a:t>A strong answer acknowledges the limitation and proposes a realistic improvement rather than claiming perfect performance.</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10</a:t>
            </a:fld>
            <a:endParaRPr lang="en-IN"/>
          </a:p>
        </p:txBody>
      </p:sp>
    </p:spTree>
    <p:extLst>
      <p:ext uri="{BB962C8B-B14F-4D97-AF65-F5344CB8AC3E}">
        <p14:creationId xmlns:p14="http://schemas.microsoft.com/office/powerpoint/2010/main" val="2899708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Summarize the complete system, its measured evaluation, and its practical output.</a:t>
            </a:r>
          </a:p>
          <a:p>
            <a:r>
              <a:rPr lang="en-IN" dirty="0"/>
              <a:t>Say this:</a:t>
            </a:r>
          </a:p>
          <a:p>
            <a:r>
              <a:rPr lang="en-IN" dirty="0"/>
              <a:t>“To conclude, OCR_MINI provides a complete workflow for extracting text from images, editing the result, and exporting it as Markdown. It integrates </a:t>
            </a:r>
            <a:r>
              <a:rPr lang="en-IN" dirty="0" err="1"/>
              <a:t>EasyOCR</a:t>
            </a:r>
            <a:r>
              <a:rPr lang="en-IN" dirty="0"/>
              <a:t> for printed text and a fine-tuned </a:t>
            </a:r>
            <a:r>
              <a:rPr lang="en-IN" dirty="0" err="1"/>
              <a:t>TrOCR</a:t>
            </a:r>
            <a:r>
              <a:rPr lang="en-IN" dirty="0"/>
              <a:t> model for handwriting. The handwriting model was evaluated on 2,915 IAM test images, achieving a CER of 6.44%, WER of 14.77%, and exact-match rate of 38.15%. Thank you.”</a:t>
            </a:r>
          </a:p>
          <a:p>
            <a:r>
              <a:rPr lang="en-IN" dirty="0"/>
              <a:t>Questions they may ask</a:t>
            </a:r>
          </a:p>
          <a:p>
            <a:pPr lvl="0"/>
            <a:r>
              <a:rPr lang="en-IN" dirty="0"/>
              <a:t>What did you learn from the project?</a:t>
            </a:r>
          </a:p>
          <a:p>
            <a:pPr lvl="0"/>
            <a:r>
              <a:rPr lang="en-IN" dirty="0"/>
              <a:t>What is the biggest challenge you faced?</a:t>
            </a:r>
          </a:p>
          <a:p>
            <a:pPr lvl="0"/>
            <a:r>
              <a:rPr lang="en-IN" dirty="0"/>
              <a:t>What is your main achievement?</a:t>
            </a:r>
          </a:p>
          <a:p>
            <a:pPr lvl="0"/>
            <a:r>
              <a:rPr lang="en-IN" dirty="0"/>
              <a:t>What would you improve in the next version?</a:t>
            </a:r>
          </a:p>
          <a:p>
            <a:endParaRPr lang="en-IN" dirty="0"/>
          </a:p>
        </p:txBody>
      </p:sp>
      <p:sp>
        <p:nvSpPr>
          <p:cNvPr id="4" name="Slide Number Placeholder 3"/>
          <p:cNvSpPr>
            <a:spLocks noGrp="1"/>
          </p:cNvSpPr>
          <p:nvPr>
            <p:ph type="sldNum" sz="quarter" idx="5"/>
          </p:nvPr>
        </p:nvSpPr>
        <p:spPr/>
        <p:txBody>
          <a:bodyPr/>
          <a:lstStyle/>
          <a:p>
            <a:fld id="{3242EC41-F95D-4170-A8B1-4052B0C43F37}" type="slidenum">
              <a:rPr lang="en-IN" smtClean="0"/>
              <a:t>11</a:t>
            </a:fld>
            <a:endParaRPr lang="en-IN"/>
          </a:p>
        </p:txBody>
      </p:sp>
    </p:spTree>
    <p:extLst>
      <p:ext uri="{BB962C8B-B14F-4D97-AF65-F5344CB8AC3E}">
        <p14:creationId xmlns:p14="http://schemas.microsoft.com/office/powerpoint/2010/main" val="1991954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49640" y="1143000"/>
            <a:ext cx="2148840" cy="2148840"/>
          </a:xfrm>
          <a:prstGeom prst="ellipse">
            <a:avLst/>
          </a:prstGeom>
          <a:noFill/>
          <a:ln w="25400">
            <a:solidFill>
              <a:srgbClr val="36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0" y="1874519"/>
            <a:ext cx="1234440" cy="1234440"/>
          </a:xfrm>
          <a:prstGeom prst="ellipse">
            <a:avLst/>
          </a:prstGeom>
          <a:noFill/>
          <a:ln w="25400">
            <a:solidFill>
              <a:srgbClr val="9A7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01000" y="3246120"/>
            <a:ext cx="777240" cy="777240"/>
          </a:xfrm>
          <a:prstGeom prst="ellipse">
            <a:avLst/>
          </a:prstGeom>
          <a:noFill/>
          <a:ln w="25400">
            <a:solidFill>
              <a:srgbClr val="66D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170432"/>
            <a:ext cx="6492240" cy="689420"/>
          </a:xfrm>
          <a:prstGeom prst="rect">
            <a:avLst/>
          </a:prstGeom>
          <a:noFill/>
        </p:spPr>
        <p:txBody>
          <a:bodyPr wrap="square" lIns="54864" tIns="36576" rIns="54864" bIns="36576">
            <a:spAutoFit/>
          </a:bodyPr>
          <a:lstStyle/>
          <a:p>
            <a:pPr algn="l">
              <a:spcAft>
                <a:spcPts val="500"/>
              </a:spcAft>
            </a:pPr>
            <a:r>
              <a:rPr sz="4000" b="1" dirty="0">
                <a:solidFill>
                  <a:srgbClr val="F4F7FF"/>
                </a:solidFill>
                <a:latin typeface="Aptos"/>
              </a:rPr>
              <a:t>OCR_</a:t>
            </a:r>
            <a:r>
              <a:rPr lang="en-IN" sz="4000" b="1" dirty="0">
                <a:solidFill>
                  <a:srgbClr val="F4F7FF"/>
                </a:solidFill>
                <a:latin typeface="Aptos"/>
              </a:rPr>
              <a:t>TXT_EXTRACT</a:t>
            </a:r>
            <a:endParaRPr sz="4000" b="1" dirty="0">
              <a:solidFill>
                <a:srgbClr val="F4F7FF"/>
              </a:solidFill>
              <a:latin typeface="Aptos"/>
            </a:endParaRPr>
          </a:p>
        </p:txBody>
      </p:sp>
      <p:sp>
        <p:nvSpPr>
          <p:cNvPr id="7" name="TextBox 6"/>
          <p:cNvSpPr txBox="1"/>
          <p:nvPr/>
        </p:nvSpPr>
        <p:spPr>
          <a:xfrm>
            <a:off x="859536" y="1975104"/>
            <a:ext cx="6766560" cy="502920"/>
          </a:xfrm>
          <a:prstGeom prst="rect">
            <a:avLst/>
          </a:prstGeom>
          <a:noFill/>
        </p:spPr>
        <p:txBody>
          <a:bodyPr wrap="square" lIns="54864" tIns="36576" rIns="54864" bIns="36576">
            <a:spAutoFit/>
          </a:bodyPr>
          <a:lstStyle/>
          <a:p>
            <a:pPr algn="l">
              <a:spcAft>
                <a:spcPts val="500"/>
              </a:spcAft>
            </a:pPr>
            <a:r>
              <a:rPr sz="2400" b="1">
                <a:solidFill>
                  <a:srgbClr val="36D3E0"/>
                </a:solidFill>
                <a:latin typeface="Aptos"/>
              </a:rPr>
              <a:t>Image to Text to Markdown</a:t>
            </a:r>
          </a:p>
        </p:txBody>
      </p:sp>
      <p:sp>
        <p:nvSpPr>
          <p:cNvPr id="8" name="TextBox 7"/>
          <p:cNvSpPr txBox="1"/>
          <p:nvPr/>
        </p:nvSpPr>
        <p:spPr>
          <a:xfrm>
            <a:off x="877824" y="2679192"/>
            <a:ext cx="6583680" cy="914400"/>
          </a:xfrm>
          <a:prstGeom prst="rect">
            <a:avLst/>
          </a:prstGeom>
          <a:noFill/>
        </p:spPr>
        <p:txBody>
          <a:bodyPr wrap="square" lIns="54864" tIns="36576" rIns="54864" bIns="36576">
            <a:spAutoFit/>
          </a:bodyPr>
          <a:lstStyle/>
          <a:p>
            <a:pPr algn="l">
              <a:spcAft>
                <a:spcPts val="500"/>
              </a:spcAft>
            </a:pPr>
            <a:r>
              <a:rPr sz="1800" b="0">
                <a:solidFill>
                  <a:srgbClr val="AFBCD5"/>
                </a:solidFill>
                <a:latin typeface="Aptos"/>
              </a:rPr>
              <a:t>A lightweight OCR web application for printed text and handwriting, with editable results and Markdown export.</a:t>
            </a:r>
          </a:p>
        </p:txBody>
      </p:sp>
      <p:sp>
        <p:nvSpPr>
          <p:cNvPr id="9" name="Rounded Rectangle 8"/>
          <p:cNvSpPr/>
          <p:nvPr/>
        </p:nvSpPr>
        <p:spPr>
          <a:xfrm>
            <a:off x="896112" y="3886200"/>
            <a:ext cx="1554480" cy="301752"/>
          </a:xfrm>
          <a:prstGeom prst="roundRect">
            <a:avLst/>
          </a:prstGeom>
          <a:solidFill>
            <a:srgbClr val="1D2A4B"/>
          </a:solidFill>
          <a:ln>
            <a:solidFill>
              <a:srgbClr val="36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 y="3904487"/>
            <a:ext cx="1499616" cy="219456"/>
          </a:xfrm>
          <a:prstGeom prst="rect">
            <a:avLst/>
          </a:prstGeom>
          <a:noFill/>
        </p:spPr>
        <p:txBody>
          <a:bodyPr wrap="square" lIns="54864" tIns="36576" rIns="54864" bIns="36576">
            <a:spAutoFit/>
          </a:bodyPr>
          <a:lstStyle/>
          <a:p>
            <a:pPr algn="ctr">
              <a:spcAft>
                <a:spcPts val="500"/>
              </a:spcAft>
            </a:pPr>
            <a:r>
              <a:rPr sz="900" b="1">
                <a:solidFill>
                  <a:srgbClr val="36D3E0"/>
                </a:solidFill>
                <a:latin typeface="Aptos"/>
              </a:rPr>
              <a:t>FLASK WEB APP</a:t>
            </a:r>
          </a:p>
        </p:txBody>
      </p:sp>
      <p:sp>
        <p:nvSpPr>
          <p:cNvPr id="11" name="Rounded Rectangle 10"/>
          <p:cNvSpPr/>
          <p:nvPr/>
        </p:nvSpPr>
        <p:spPr>
          <a:xfrm>
            <a:off x="2596896" y="3886200"/>
            <a:ext cx="1051560" cy="301752"/>
          </a:xfrm>
          <a:prstGeom prst="roundRect">
            <a:avLst/>
          </a:prstGeom>
          <a:solidFill>
            <a:srgbClr val="1D2A4B"/>
          </a:solidFill>
          <a:ln>
            <a:solidFill>
              <a:srgbClr val="9A7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24327" y="3904487"/>
            <a:ext cx="996695" cy="219456"/>
          </a:xfrm>
          <a:prstGeom prst="rect">
            <a:avLst/>
          </a:prstGeom>
          <a:noFill/>
        </p:spPr>
        <p:txBody>
          <a:bodyPr wrap="square" lIns="54864" tIns="36576" rIns="54864" bIns="36576">
            <a:spAutoFit/>
          </a:bodyPr>
          <a:lstStyle/>
          <a:p>
            <a:pPr algn="ctr">
              <a:spcAft>
                <a:spcPts val="500"/>
              </a:spcAft>
            </a:pPr>
            <a:r>
              <a:rPr sz="900" b="1">
                <a:solidFill>
                  <a:srgbClr val="9A75FF"/>
                </a:solidFill>
                <a:latin typeface="Aptos"/>
              </a:rPr>
              <a:t>EASYOCR</a:t>
            </a:r>
          </a:p>
        </p:txBody>
      </p:sp>
      <p:sp>
        <p:nvSpPr>
          <p:cNvPr id="13" name="Rounded Rectangle 12"/>
          <p:cNvSpPr/>
          <p:nvPr/>
        </p:nvSpPr>
        <p:spPr>
          <a:xfrm>
            <a:off x="3776472" y="3886200"/>
            <a:ext cx="1874519" cy="301752"/>
          </a:xfrm>
          <a:prstGeom prst="roundRect">
            <a:avLst/>
          </a:prstGeom>
          <a:solidFill>
            <a:srgbClr val="1D2A4B"/>
          </a:solidFill>
          <a:ln>
            <a:solidFill>
              <a:srgbClr val="66D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03904" y="3904487"/>
            <a:ext cx="1819655" cy="219456"/>
          </a:xfrm>
          <a:prstGeom prst="rect">
            <a:avLst/>
          </a:prstGeom>
          <a:noFill/>
        </p:spPr>
        <p:txBody>
          <a:bodyPr wrap="square" lIns="54864" tIns="36576" rIns="54864" bIns="36576">
            <a:spAutoFit/>
          </a:bodyPr>
          <a:lstStyle/>
          <a:p>
            <a:pPr algn="ctr">
              <a:spcAft>
                <a:spcPts val="500"/>
              </a:spcAft>
            </a:pPr>
            <a:r>
              <a:rPr sz="900" b="1">
                <a:solidFill>
                  <a:srgbClr val="66DCAA"/>
                </a:solidFill>
                <a:latin typeface="Aptos"/>
              </a:rPr>
              <a:t>FINE-TUNED TROCR</a:t>
            </a:r>
          </a:p>
        </p:txBody>
      </p:sp>
      <p:sp>
        <p:nvSpPr>
          <p:cNvPr id="15" name="TextBox 14"/>
          <p:cNvSpPr txBox="1"/>
          <p:nvPr/>
        </p:nvSpPr>
        <p:spPr>
          <a:xfrm>
            <a:off x="896112" y="4663440"/>
            <a:ext cx="5852160" cy="273921"/>
          </a:xfrm>
          <a:prstGeom prst="rect">
            <a:avLst/>
          </a:prstGeom>
          <a:noFill/>
        </p:spPr>
        <p:txBody>
          <a:bodyPr wrap="square" lIns="54864" tIns="36576" rIns="54864" bIns="36576">
            <a:spAutoFit/>
          </a:bodyPr>
          <a:lstStyle/>
          <a:p>
            <a:pPr algn="l">
              <a:spcAft>
                <a:spcPts val="500"/>
              </a:spcAft>
            </a:pPr>
            <a:r>
              <a:rPr sz="1300" b="0" dirty="0">
                <a:solidFill>
                  <a:srgbClr val="F4F7FF"/>
                </a:solidFill>
                <a:latin typeface="Aptos"/>
              </a:rPr>
              <a:t>Presented by</a:t>
            </a:r>
            <a:r>
              <a:rPr lang="en-IN" sz="1300" dirty="0">
                <a:solidFill>
                  <a:srgbClr val="F4F7FF"/>
                </a:solidFill>
                <a:latin typeface="Aptos"/>
              </a:rPr>
              <a:t> : Bharath K M</a:t>
            </a:r>
            <a:endParaRPr sz="1300" b="0" dirty="0">
              <a:solidFill>
                <a:srgbClr val="F4F7F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a:solidFill>
                  <a:srgbClr val="F4F7FF"/>
                </a:solidFill>
                <a:latin typeface="Aptos"/>
              </a:rPr>
              <a:t>01 | Problem Statement</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The practical problem addressed by OCR_MINI</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02</a:t>
            </a:r>
          </a:p>
        </p:txBody>
      </p:sp>
      <p:sp>
        <p:nvSpPr>
          <p:cNvPr id="7" name="Rounded Rectangle 6"/>
          <p:cNvSpPr/>
          <p:nvPr/>
        </p:nvSpPr>
        <p:spPr>
          <a:xfrm>
            <a:off x="685800" y="1508760"/>
            <a:ext cx="3474720" cy="16002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18488"/>
            <a:ext cx="50292" cy="138074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55063"/>
            <a:ext cx="312724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Image-based text</a:t>
            </a:r>
          </a:p>
        </p:txBody>
      </p:sp>
      <p:sp>
        <p:nvSpPr>
          <p:cNvPr id="10" name="TextBox 9"/>
          <p:cNvSpPr txBox="1"/>
          <p:nvPr/>
        </p:nvSpPr>
        <p:spPr>
          <a:xfrm>
            <a:off x="868680" y="2048255"/>
            <a:ext cx="3127248" cy="98755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Text inside scanned pages and photographs is not directly editable or searchable.</a:t>
            </a:r>
          </a:p>
        </p:txBody>
      </p:sp>
      <p:sp>
        <p:nvSpPr>
          <p:cNvPr id="11" name="Rounded Rectangle 10"/>
          <p:cNvSpPr/>
          <p:nvPr/>
        </p:nvSpPr>
        <p:spPr>
          <a:xfrm>
            <a:off x="4361688" y="1508760"/>
            <a:ext cx="3474720" cy="16002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61688" y="1618488"/>
            <a:ext cx="50292" cy="138074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55063"/>
            <a:ext cx="312724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Different text styles</a:t>
            </a:r>
          </a:p>
        </p:txBody>
      </p:sp>
      <p:sp>
        <p:nvSpPr>
          <p:cNvPr id="14" name="TextBox 13"/>
          <p:cNvSpPr txBox="1"/>
          <p:nvPr/>
        </p:nvSpPr>
        <p:spPr>
          <a:xfrm>
            <a:off x="4544568" y="2048255"/>
            <a:ext cx="3127248" cy="98755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Printed text and handwriting can require different recognition approaches.</a:t>
            </a:r>
          </a:p>
        </p:txBody>
      </p:sp>
      <p:sp>
        <p:nvSpPr>
          <p:cNvPr id="15" name="Rounded Rectangle 14"/>
          <p:cNvSpPr/>
          <p:nvPr/>
        </p:nvSpPr>
        <p:spPr>
          <a:xfrm>
            <a:off x="8046720" y="1508760"/>
            <a:ext cx="3474720" cy="16002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618488"/>
            <a:ext cx="50292" cy="138074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655063"/>
            <a:ext cx="312724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Manual retyping</a:t>
            </a:r>
          </a:p>
        </p:txBody>
      </p:sp>
      <p:sp>
        <p:nvSpPr>
          <p:cNvPr id="18" name="TextBox 17"/>
          <p:cNvSpPr txBox="1"/>
          <p:nvPr/>
        </p:nvSpPr>
        <p:spPr>
          <a:xfrm>
            <a:off x="8229600" y="2048255"/>
            <a:ext cx="3127248" cy="98755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Converting image text into reusable documents takes time and can introduce errors.</a:t>
            </a:r>
          </a:p>
        </p:txBody>
      </p:sp>
      <p:sp>
        <p:nvSpPr>
          <p:cNvPr id="19" name="TextBox 18"/>
          <p:cNvSpPr txBox="1"/>
          <p:nvPr/>
        </p:nvSpPr>
        <p:spPr>
          <a:xfrm>
            <a:off x="822960" y="3703320"/>
            <a:ext cx="2468880" cy="320040"/>
          </a:xfrm>
          <a:prstGeom prst="rect">
            <a:avLst/>
          </a:prstGeom>
          <a:noFill/>
        </p:spPr>
        <p:txBody>
          <a:bodyPr wrap="square" lIns="54864" tIns="36576" rIns="54864" bIns="36576">
            <a:spAutoFit/>
          </a:bodyPr>
          <a:lstStyle/>
          <a:p>
            <a:pPr algn="l">
              <a:spcAft>
                <a:spcPts val="500"/>
              </a:spcAft>
            </a:pPr>
            <a:r>
              <a:rPr sz="1700" b="1">
                <a:solidFill>
                  <a:srgbClr val="36D3E0"/>
                </a:solidFill>
                <a:latin typeface="Aptos"/>
              </a:rPr>
              <a:t>Problem statement</a:t>
            </a:r>
          </a:p>
        </p:txBody>
      </p:sp>
      <p:sp>
        <p:nvSpPr>
          <p:cNvPr id="20" name="TextBox 19"/>
          <p:cNvSpPr txBox="1"/>
          <p:nvPr/>
        </p:nvSpPr>
        <p:spPr>
          <a:xfrm>
            <a:off x="822960" y="4160520"/>
            <a:ext cx="10607040" cy="1051560"/>
          </a:xfrm>
          <a:prstGeom prst="rect">
            <a:avLst/>
          </a:prstGeom>
          <a:noFill/>
        </p:spPr>
        <p:txBody>
          <a:bodyPr wrap="square" lIns="54864" tIns="36576" rIns="54864" bIns="36576">
            <a:spAutoFit/>
          </a:bodyPr>
          <a:lstStyle/>
          <a:p>
            <a:pPr algn="l">
              <a:spcAft>
                <a:spcPts val="500"/>
              </a:spcAft>
            </a:pPr>
            <a:r>
              <a:rPr sz="2400" b="1">
                <a:solidFill>
                  <a:srgbClr val="F4F7FF"/>
                </a:solidFill>
                <a:latin typeface="Aptos"/>
              </a:rPr>
              <a:t>How can we build a simple application that extracts printed or handwritten text from an image, allows correction, and exports the result in Markdown?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a:solidFill>
                  <a:srgbClr val="F4F7FF"/>
                </a:solidFill>
                <a:latin typeface="Aptos"/>
              </a:rPr>
              <a:t>02 | Objectives &amp; Scope</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Implemented workflow and evaluation scope</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03</a:t>
            </a:r>
          </a:p>
        </p:txBody>
      </p:sp>
      <p:sp>
        <p:nvSpPr>
          <p:cNvPr id="7" name="TextBox 6"/>
          <p:cNvSpPr txBox="1"/>
          <p:nvPr/>
        </p:nvSpPr>
        <p:spPr>
          <a:xfrm>
            <a:off x="822960" y="1371600"/>
            <a:ext cx="6675120" cy="1871794"/>
          </a:xfrm>
          <a:prstGeom prst="rect">
            <a:avLst/>
          </a:prstGeom>
          <a:noFill/>
        </p:spPr>
        <p:txBody>
          <a:bodyPr wrap="square" lIns="54864" tIns="36576" rIns="54864" bIns="36576">
            <a:spAutoFit/>
          </a:bodyPr>
          <a:lstStyle/>
          <a:p>
            <a:pPr algn="l">
              <a:spcAft>
                <a:spcPts val="500"/>
              </a:spcAft>
            </a:pPr>
            <a:r>
              <a:rPr sz="1600" b="0" dirty="0">
                <a:solidFill>
                  <a:srgbClr val="F4F7FF"/>
                </a:solidFill>
                <a:latin typeface="Aptos"/>
              </a:rPr>
              <a:t>• Upload an image through a web interface.</a:t>
            </a:r>
          </a:p>
          <a:p>
            <a:pPr algn="l">
              <a:spcAft>
                <a:spcPts val="500"/>
              </a:spcAft>
            </a:pPr>
            <a:r>
              <a:rPr sz="1600" b="0" dirty="0">
                <a:solidFill>
                  <a:srgbClr val="F4F7FF"/>
                </a:solidFill>
                <a:latin typeface="Aptos"/>
              </a:rPr>
              <a:t>• Choose printed-text or handwriting recognition mode.</a:t>
            </a:r>
          </a:p>
          <a:p>
            <a:pPr algn="l">
              <a:spcAft>
                <a:spcPts val="500"/>
              </a:spcAft>
            </a:pPr>
            <a:r>
              <a:rPr sz="1600" b="0" dirty="0">
                <a:solidFill>
                  <a:srgbClr val="F4F7FF"/>
                </a:solidFill>
                <a:latin typeface="Aptos"/>
              </a:rPr>
              <a:t>• Use </a:t>
            </a:r>
            <a:r>
              <a:rPr sz="1600" b="0" dirty="0" err="1">
                <a:solidFill>
                  <a:srgbClr val="F4F7FF"/>
                </a:solidFill>
                <a:latin typeface="Aptos"/>
              </a:rPr>
              <a:t>EasyOCR</a:t>
            </a:r>
            <a:r>
              <a:rPr sz="1600" b="0" dirty="0">
                <a:solidFill>
                  <a:srgbClr val="F4F7FF"/>
                </a:solidFill>
                <a:latin typeface="Aptos"/>
              </a:rPr>
              <a:t> for printed text and fine-tuned </a:t>
            </a:r>
            <a:r>
              <a:rPr sz="1600" b="0" dirty="0" err="1">
                <a:solidFill>
                  <a:srgbClr val="F4F7FF"/>
                </a:solidFill>
                <a:latin typeface="Aptos"/>
              </a:rPr>
              <a:t>TrOCR</a:t>
            </a:r>
            <a:r>
              <a:rPr sz="1600" b="0" dirty="0">
                <a:solidFill>
                  <a:srgbClr val="F4F7FF"/>
                </a:solidFill>
                <a:latin typeface="Aptos"/>
              </a:rPr>
              <a:t> for handwriting.</a:t>
            </a:r>
          </a:p>
          <a:p>
            <a:pPr algn="l">
              <a:spcAft>
                <a:spcPts val="500"/>
              </a:spcAft>
            </a:pPr>
            <a:r>
              <a:rPr sz="1600" b="0" dirty="0">
                <a:solidFill>
                  <a:srgbClr val="F4F7FF"/>
                </a:solidFill>
                <a:latin typeface="Aptos"/>
              </a:rPr>
              <a:t>• Display editable recognized text.</a:t>
            </a:r>
          </a:p>
          <a:p>
            <a:pPr algn="l">
              <a:spcAft>
                <a:spcPts val="500"/>
              </a:spcAft>
            </a:pPr>
            <a:r>
              <a:rPr sz="1600" b="0" dirty="0">
                <a:solidFill>
                  <a:srgbClr val="F4F7FF"/>
                </a:solidFill>
                <a:latin typeface="Aptos"/>
              </a:rPr>
              <a:t>• Convert reviewed text into Markdown and download a .md file.</a:t>
            </a:r>
          </a:p>
          <a:p>
            <a:pPr algn="l">
              <a:spcAft>
                <a:spcPts val="500"/>
              </a:spcAft>
            </a:pPr>
            <a:r>
              <a:rPr sz="1600" b="0" dirty="0">
                <a:solidFill>
                  <a:srgbClr val="F4F7FF"/>
                </a:solidFill>
                <a:latin typeface="Aptos"/>
              </a:rPr>
              <a:t>• Evaluate handwriting predictions using CER, WER, and exact-match rate.</a:t>
            </a:r>
          </a:p>
        </p:txBody>
      </p:sp>
      <p:sp>
        <p:nvSpPr>
          <p:cNvPr id="8" name="Rounded Rectangle 7"/>
          <p:cNvSpPr/>
          <p:nvPr/>
        </p:nvSpPr>
        <p:spPr>
          <a:xfrm>
            <a:off x="7818120" y="1554480"/>
            <a:ext cx="342900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818120" y="1664207"/>
            <a:ext cx="50292" cy="101498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0" y="1700784"/>
            <a:ext cx="308152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Application</a:t>
            </a:r>
          </a:p>
        </p:txBody>
      </p:sp>
      <p:sp>
        <p:nvSpPr>
          <p:cNvPr id="11" name="TextBox 10"/>
          <p:cNvSpPr txBox="1"/>
          <p:nvPr/>
        </p:nvSpPr>
        <p:spPr>
          <a:xfrm>
            <a:off x="8001000" y="2093976"/>
            <a:ext cx="3081528" cy="62179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Upload → recognize → edit → export</a:t>
            </a:r>
          </a:p>
        </p:txBody>
      </p:sp>
      <p:sp>
        <p:nvSpPr>
          <p:cNvPr id="12" name="Rounded Rectangle 11"/>
          <p:cNvSpPr/>
          <p:nvPr/>
        </p:nvSpPr>
        <p:spPr>
          <a:xfrm>
            <a:off x="7818120" y="2971800"/>
            <a:ext cx="342900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818120" y="3081528"/>
            <a:ext cx="50292" cy="101498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01000" y="3118104"/>
            <a:ext cx="308152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Evaluation</a:t>
            </a:r>
          </a:p>
        </p:txBody>
      </p:sp>
      <p:sp>
        <p:nvSpPr>
          <p:cNvPr id="15" name="TextBox 14"/>
          <p:cNvSpPr txBox="1"/>
          <p:nvPr/>
        </p:nvSpPr>
        <p:spPr>
          <a:xfrm>
            <a:off x="8001000" y="3511296"/>
            <a:ext cx="3081528" cy="62179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IAM handwriting test split</a:t>
            </a:r>
          </a:p>
        </p:txBody>
      </p:sp>
      <p:sp>
        <p:nvSpPr>
          <p:cNvPr id="16" name="Rounded Rectangle 15"/>
          <p:cNvSpPr/>
          <p:nvPr/>
        </p:nvSpPr>
        <p:spPr>
          <a:xfrm>
            <a:off x="7818120" y="4389120"/>
            <a:ext cx="342900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18120" y="4498848"/>
            <a:ext cx="50292" cy="1014984"/>
          </a:xfrm>
          <a:prstGeom prst="rect">
            <a:avLst/>
          </a:prstGeom>
          <a:solidFill>
            <a:srgbClr val="FFC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1000" y="4535424"/>
            <a:ext cx="3081528" cy="320040"/>
          </a:xfrm>
          <a:prstGeom prst="rect">
            <a:avLst/>
          </a:prstGeom>
          <a:noFill/>
        </p:spPr>
        <p:txBody>
          <a:bodyPr wrap="square" lIns="54864" tIns="36576" rIns="54864" bIns="36576">
            <a:spAutoFit/>
          </a:bodyPr>
          <a:lstStyle/>
          <a:p>
            <a:pPr algn="l">
              <a:spcAft>
                <a:spcPts val="500"/>
              </a:spcAft>
            </a:pPr>
            <a:r>
              <a:rPr sz="1600" b="1">
                <a:solidFill>
                  <a:srgbClr val="FFC35E"/>
                </a:solidFill>
                <a:latin typeface="Aptos"/>
              </a:rPr>
              <a:t>Scope boundary</a:t>
            </a:r>
          </a:p>
        </p:txBody>
      </p:sp>
      <p:sp>
        <p:nvSpPr>
          <p:cNvPr id="19" name="TextBox 18"/>
          <p:cNvSpPr txBox="1"/>
          <p:nvPr/>
        </p:nvSpPr>
        <p:spPr>
          <a:xfrm>
            <a:off x="8001000" y="4928616"/>
            <a:ext cx="3081528" cy="62179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No claim of perfect recognition or full layout reconstruction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a:solidFill>
                  <a:srgbClr val="F4F7FF"/>
                </a:solidFill>
                <a:latin typeface="Aptos"/>
              </a:rPr>
              <a:t>03 | End-to-End Workflow</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A single interface with two recognition paths</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04</a:t>
            </a:r>
          </a:p>
        </p:txBody>
      </p:sp>
      <p:sp>
        <p:nvSpPr>
          <p:cNvPr id="7" name="TextBox 6"/>
          <p:cNvSpPr txBox="1"/>
          <p:nvPr/>
        </p:nvSpPr>
        <p:spPr>
          <a:xfrm>
            <a:off x="658368" y="1554480"/>
            <a:ext cx="548640" cy="274320"/>
          </a:xfrm>
          <a:prstGeom prst="rect">
            <a:avLst/>
          </a:prstGeom>
          <a:noFill/>
        </p:spPr>
        <p:txBody>
          <a:bodyPr wrap="square" lIns="54864" tIns="36576" rIns="54864" bIns="36576">
            <a:spAutoFit/>
          </a:bodyPr>
          <a:lstStyle/>
          <a:p>
            <a:pPr algn="l">
              <a:spcAft>
                <a:spcPts val="500"/>
              </a:spcAft>
            </a:pPr>
            <a:r>
              <a:rPr sz="1700" b="1">
                <a:solidFill>
                  <a:srgbClr val="36D3E0"/>
                </a:solidFill>
                <a:latin typeface="Aptos"/>
              </a:rPr>
              <a:t>01</a:t>
            </a:r>
          </a:p>
        </p:txBody>
      </p:sp>
      <p:sp>
        <p:nvSpPr>
          <p:cNvPr id="8" name="Rounded Rectangle 7"/>
          <p:cNvSpPr/>
          <p:nvPr/>
        </p:nvSpPr>
        <p:spPr>
          <a:xfrm>
            <a:off x="566928"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2029968"/>
            <a:ext cx="50292" cy="160934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066544"/>
            <a:ext cx="1325880"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Upload</a:t>
            </a:r>
          </a:p>
        </p:txBody>
      </p:sp>
      <p:sp>
        <p:nvSpPr>
          <p:cNvPr id="11" name="TextBox 10"/>
          <p:cNvSpPr txBox="1"/>
          <p:nvPr/>
        </p:nvSpPr>
        <p:spPr>
          <a:xfrm>
            <a:off x="749808"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Select an image</a:t>
            </a:r>
          </a:p>
        </p:txBody>
      </p:sp>
      <p:sp>
        <p:nvSpPr>
          <p:cNvPr id="12" name="TextBox 11"/>
          <p:cNvSpPr txBox="1"/>
          <p:nvPr/>
        </p:nvSpPr>
        <p:spPr>
          <a:xfrm>
            <a:off x="2231136" y="2606040"/>
            <a:ext cx="256032" cy="320040"/>
          </a:xfrm>
          <a:prstGeom prst="rect">
            <a:avLst/>
          </a:prstGeom>
          <a:noFill/>
        </p:spPr>
        <p:txBody>
          <a:bodyPr wrap="square" lIns="54864" tIns="36576" rIns="54864" bIns="36576">
            <a:spAutoFit/>
          </a:bodyPr>
          <a:lstStyle/>
          <a:p>
            <a:pPr algn="ctr">
              <a:spcAft>
                <a:spcPts val="500"/>
              </a:spcAft>
            </a:pPr>
            <a:r>
              <a:rPr sz="2000" b="1">
                <a:solidFill>
                  <a:srgbClr val="AFBCD5"/>
                </a:solidFill>
                <a:latin typeface="Aptos"/>
              </a:rPr>
              <a:t>→</a:t>
            </a:r>
          </a:p>
        </p:txBody>
      </p:sp>
      <p:sp>
        <p:nvSpPr>
          <p:cNvPr id="13" name="TextBox 12"/>
          <p:cNvSpPr txBox="1"/>
          <p:nvPr/>
        </p:nvSpPr>
        <p:spPr>
          <a:xfrm>
            <a:off x="2596896" y="1554480"/>
            <a:ext cx="548640" cy="274320"/>
          </a:xfrm>
          <a:prstGeom prst="rect">
            <a:avLst/>
          </a:prstGeom>
          <a:noFill/>
        </p:spPr>
        <p:txBody>
          <a:bodyPr wrap="square" lIns="54864" tIns="36576" rIns="54864" bIns="36576">
            <a:spAutoFit/>
          </a:bodyPr>
          <a:lstStyle/>
          <a:p>
            <a:pPr algn="l">
              <a:spcAft>
                <a:spcPts val="500"/>
              </a:spcAft>
            </a:pPr>
            <a:r>
              <a:rPr sz="1700" b="1">
                <a:solidFill>
                  <a:srgbClr val="9A75FF"/>
                </a:solidFill>
                <a:latin typeface="Aptos"/>
              </a:rPr>
              <a:t>02</a:t>
            </a:r>
          </a:p>
        </p:txBody>
      </p:sp>
      <p:sp>
        <p:nvSpPr>
          <p:cNvPr id="14" name="Rounded Rectangle 13"/>
          <p:cNvSpPr/>
          <p:nvPr/>
        </p:nvSpPr>
        <p:spPr>
          <a:xfrm>
            <a:off x="2505456"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05456" y="2029968"/>
            <a:ext cx="50292" cy="160934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88336" y="2066544"/>
            <a:ext cx="1325880"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Select mode</a:t>
            </a:r>
          </a:p>
        </p:txBody>
      </p:sp>
      <p:sp>
        <p:nvSpPr>
          <p:cNvPr id="17" name="TextBox 16"/>
          <p:cNvSpPr txBox="1"/>
          <p:nvPr/>
        </p:nvSpPr>
        <p:spPr>
          <a:xfrm>
            <a:off x="2688336"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Printed / handwriting</a:t>
            </a:r>
          </a:p>
        </p:txBody>
      </p:sp>
      <p:sp>
        <p:nvSpPr>
          <p:cNvPr id="18" name="TextBox 17"/>
          <p:cNvSpPr txBox="1"/>
          <p:nvPr/>
        </p:nvSpPr>
        <p:spPr>
          <a:xfrm>
            <a:off x="4169664" y="2606040"/>
            <a:ext cx="256032" cy="320040"/>
          </a:xfrm>
          <a:prstGeom prst="rect">
            <a:avLst/>
          </a:prstGeom>
          <a:noFill/>
        </p:spPr>
        <p:txBody>
          <a:bodyPr wrap="square" lIns="54864" tIns="36576" rIns="54864" bIns="36576">
            <a:spAutoFit/>
          </a:bodyPr>
          <a:lstStyle/>
          <a:p>
            <a:pPr algn="ctr">
              <a:spcAft>
                <a:spcPts val="500"/>
              </a:spcAft>
            </a:pPr>
            <a:r>
              <a:rPr sz="2000" b="1">
                <a:solidFill>
                  <a:srgbClr val="AFBCD5"/>
                </a:solidFill>
                <a:latin typeface="Aptos"/>
              </a:rPr>
              <a:t>→</a:t>
            </a:r>
          </a:p>
        </p:txBody>
      </p:sp>
      <p:sp>
        <p:nvSpPr>
          <p:cNvPr id="19" name="TextBox 18"/>
          <p:cNvSpPr txBox="1"/>
          <p:nvPr/>
        </p:nvSpPr>
        <p:spPr>
          <a:xfrm>
            <a:off x="4535424" y="1554480"/>
            <a:ext cx="548640" cy="274320"/>
          </a:xfrm>
          <a:prstGeom prst="rect">
            <a:avLst/>
          </a:prstGeom>
          <a:noFill/>
        </p:spPr>
        <p:txBody>
          <a:bodyPr wrap="square" lIns="54864" tIns="36576" rIns="54864" bIns="36576">
            <a:spAutoFit/>
          </a:bodyPr>
          <a:lstStyle/>
          <a:p>
            <a:pPr algn="l">
              <a:spcAft>
                <a:spcPts val="500"/>
              </a:spcAft>
            </a:pPr>
            <a:r>
              <a:rPr sz="1700" b="1">
                <a:solidFill>
                  <a:srgbClr val="66DCAA"/>
                </a:solidFill>
                <a:latin typeface="Aptos"/>
              </a:rPr>
              <a:t>03</a:t>
            </a:r>
          </a:p>
        </p:txBody>
      </p:sp>
      <p:sp>
        <p:nvSpPr>
          <p:cNvPr id="20" name="Rounded Rectangle 19"/>
          <p:cNvSpPr/>
          <p:nvPr/>
        </p:nvSpPr>
        <p:spPr>
          <a:xfrm>
            <a:off x="4443984"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43984" y="2029968"/>
            <a:ext cx="50292" cy="160934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26864" y="2066544"/>
            <a:ext cx="1325880"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Recognize</a:t>
            </a:r>
          </a:p>
        </p:txBody>
      </p:sp>
      <p:sp>
        <p:nvSpPr>
          <p:cNvPr id="23" name="TextBox 22"/>
          <p:cNvSpPr txBox="1"/>
          <p:nvPr/>
        </p:nvSpPr>
        <p:spPr>
          <a:xfrm>
            <a:off x="4626864"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Run selected engine</a:t>
            </a:r>
          </a:p>
        </p:txBody>
      </p:sp>
      <p:sp>
        <p:nvSpPr>
          <p:cNvPr id="24" name="TextBox 23"/>
          <p:cNvSpPr txBox="1"/>
          <p:nvPr/>
        </p:nvSpPr>
        <p:spPr>
          <a:xfrm>
            <a:off x="6108192" y="2606040"/>
            <a:ext cx="256032" cy="320040"/>
          </a:xfrm>
          <a:prstGeom prst="rect">
            <a:avLst/>
          </a:prstGeom>
          <a:noFill/>
        </p:spPr>
        <p:txBody>
          <a:bodyPr wrap="square" lIns="54864" tIns="36576" rIns="54864" bIns="36576">
            <a:spAutoFit/>
          </a:bodyPr>
          <a:lstStyle/>
          <a:p>
            <a:pPr algn="ctr">
              <a:spcAft>
                <a:spcPts val="500"/>
              </a:spcAft>
            </a:pPr>
            <a:r>
              <a:rPr sz="2000" b="1">
                <a:solidFill>
                  <a:srgbClr val="AFBCD5"/>
                </a:solidFill>
                <a:latin typeface="Aptos"/>
              </a:rPr>
              <a:t>→</a:t>
            </a:r>
          </a:p>
        </p:txBody>
      </p:sp>
      <p:sp>
        <p:nvSpPr>
          <p:cNvPr id="25" name="TextBox 24"/>
          <p:cNvSpPr txBox="1"/>
          <p:nvPr/>
        </p:nvSpPr>
        <p:spPr>
          <a:xfrm>
            <a:off x="6473952" y="1554480"/>
            <a:ext cx="548640" cy="274320"/>
          </a:xfrm>
          <a:prstGeom prst="rect">
            <a:avLst/>
          </a:prstGeom>
          <a:noFill/>
        </p:spPr>
        <p:txBody>
          <a:bodyPr wrap="square" lIns="54864" tIns="36576" rIns="54864" bIns="36576">
            <a:spAutoFit/>
          </a:bodyPr>
          <a:lstStyle/>
          <a:p>
            <a:pPr algn="l">
              <a:spcAft>
                <a:spcPts val="500"/>
              </a:spcAft>
            </a:pPr>
            <a:r>
              <a:rPr sz="1700" b="1">
                <a:solidFill>
                  <a:srgbClr val="36D3E0"/>
                </a:solidFill>
                <a:latin typeface="Aptos"/>
              </a:rPr>
              <a:t>04</a:t>
            </a:r>
          </a:p>
        </p:txBody>
      </p:sp>
      <p:sp>
        <p:nvSpPr>
          <p:cNvPr id="26" name="Rounded Rectangle 25"/>
          <p:cNvSpPr/>
          <p:nvPr/>
        </p:nvSpPr>
        <p:spPr>
          <a:xfrm>
            <a:off x="6382512"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82512" y="2029968"/>
            <a:ext cx="50292" cy="160934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65392" y="2066544"/>
            <a:ext cx="1325880"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Review</a:t>
            </a:r>
          </a:p>
        </p:txBody>
      </p:sp>
      <p:sp>
        <p:nvSpPr>
          <p:cNvPr id="29" name="TextBox 28"/>
          <p:cNvSpPr txBox="1"/>
          <p:nvPr/>
        </p:nvSpPr>
        <p:spPr>
          <a:xfrm>
            <a:off x="6565392"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Edit OCR output</a:t>
            </a:r>
          </a:p>
        </p:txBody>
      </p:sp>
      <p:sp>
        <p:nvSpPr>
          <p:cNvPr id="30" name="TextBox 29"/>
          <p:cNvSpPr txBox="1"/>
          <p:nvPr/>
        </p:nvSpPr>
        <p:spPr>
          <a:xfrm>
            <a:off x="8046720" y="2606040"/>
            <a:ext cx="256032" cy="320040"/>
          </a:xfrm>
          <a:prstGeom prst="rect">
            <a:avLst/>
          </a:prstGeom>
          <a:noFill/>
        </p:spPr>
        <p:txBody>
          <a:bodyPr wrap="square" lIns="54864" tIns="36576" rIns="54864" bIns="36576">
            <a:spAutoFit/>
          </a:bodyPr>
          <a:lstStyle/>
          <a:p>
            <a:pPr algn="ctr">
              <a:spcAft>
                <a:spcPts val="500"/>
              </a:spcAft>
            </a:pPr>
            <a:r>
              <a:rPr sz="2000" b="1">
                <a:solidFill>
                  <a:srgbClr val="AFBCD5"/>
                </a:solidFill>
                <a:latin typeface="Aptos"/>
              </a:rPr>
              <a:t>→</a:t>
            </a:r>
          </a:p>
        </p:txBody>
      </p:sp>
      <p:sp>
        <p:nvSpPr>
          <p:cNvPr id="31" name="TextBox 30"/>
          <p:cNvSpPr txBox="1"/>
          <p:nvPr/>
        </p:nvSpPr>
        <p:spPr>
          <a:xfrm>
            <a:off x="8412480" y="1554480"/>
            <a:ext cx="548640" cy="274320"/>
          </a:xfrm>
          <a:prstGeom prst="rect">
            <a:avLst/>
          </a:prstGeom>
          <a:noFill/>
        </p:spPr>
        <p:txBody>
          <a:bodyPr wrap="square" lIns="54864" tIns="36576" rIns="54864" bIns="36576">
            <a:spAutoFit/>
          </a:bodyPr>
          <a:lstStyle/>
          <a:p>
            <a:pPr algn="l">
              <a:spcAft>
                <a:spcPts val="500"/>
              </a:spcAft>
            </a:pPr>
            <a:r>
              <a:rPr sz="1700" b="1">
                <a:solidFill>
                  <a:srgbClr val="9A75FF"/>
                </a:solidFill>
                <a:latin typeface="Aptos"/>
              </a:rPr>
              <a:t>05</a:t>
            </a:r>
          </a:p>
        </p:txBody>
      </p:sp>
      <p:sp>
        <p:nvSpPr>
          <p:cNvPr id="32" name="Rounded Rectangle 31"/>
          <p:cNvSpPr/>
          <p:nvPr/>
        </p:nvSpPr>
        <p:spPr>
          <a:xfrm>
            <a:off x="8321040"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321040" y="2029968"/>
            <a:ext cx="50292" cy="160934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03919" y="2066544"/>
            <a:ext cx="1325880"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Format</a:t>
            </a:r>
          </a:p>
        </p:txBody>
      </p:sp>
      <p:sp>
        <p:nvSpPr>
          <p:cNvPr id="35" name="TextBox 34"/>
          <p:cNvSpPr txBox="1"/>
          <p:nvPr/>
        </p:nvSpPr>
        <p:spPr>
          <a:xfrm>
            <a:off x="8503919"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Convert to Markdown</a:t>
            </a:r>
          </a:p>
        </p:txBody>
      </p:sp>
      <p:sp>
        <p:nvSpPr>
          <p:cNvPr id="36" name="TextBox 35"/>
          <p:cNvSpPr txBox="1"/>
          <p:nvPr/>
        </p:nvSpPr>
        <p:spPr>
          <a:xfrm>
            <a:off x="9985248" y="2606040"/>
            <a:ext cx="256032" cy="320040"/>
          </a:xfrm>
          <a:prstGeom prst="rect">
            <a:avLst/>
          </a:prstGeom>
          <a:noFill/>
        </p:spPr>
        <p:txBody>
          <a:bodyPr wrap="square" lIns="54864" tIns="36576" rIns="54864" bIns="36576">
            <a:spAutoFit/>
          </a:bodyPr>
          <a:lstStyle/>
          <a:p>
            <a:pPr algn="ctr">
              <a:spcAft>
                <a:spcPts val="500"/>
              </a:spcAft>
            </a:pPr>
            <a:r>
              <a:rPr sz="2000" b="1">
                <a:solidFill>
                  <a:srgbClr val="AFBCD5"/>
                </a:solidFill>
                <a:latin typeface="Aptos"/>
              </a:rPr>
              <a:t>→</a:t>
            </a:r>
          </a:p>
        </p:txBody>
      </p:sp>
      <p:sp>
        <p:nvSpPr>
          <p:cNvPr id="37" name="TextBox 36"/>
          <p:cNvSpPr txBox="1"/>
          <p:nvPr/>
        </p:nvSpPr>
        <p:spPr>
          <a:xfrm>
            <a:off x="10351008" y="1554480"/>
            <a:ext cx="548640" cy="274320"/>
          </a:xfrm>
          <a:prstGeom prst="rect">
            <a:avLst/>
          </a:prstGeom>
          <a:noFill/>
        </p:spPr>
        <p:txBody>
          <a:bodyPr wrap="square" lIns="54864" tIns="36576" rIns="54864" bIns="36576">
            <a:spAutoFit/>
          </a:bodyPr>
          <a:lstStyle/>
          <a:p>
            <a:pPr algn="l">
              <a:spcAft>
                <a:spcPts val="500"/>
              </a:spcAft>
            </a:pPr>
            <a:r>
              <a:rPr sz="1700" b="1">
                <a:solidFill>
                  <a:srgbClr val="66DCAA"/>
                </a:solidFill>
                <a:latin typeface="Aptos"/>
              </a:rPr>
              <a:t>06</a:t>
            </a:r>
          </a:p>
        </p:txBody>
      </p:sp>
      <p:sp>
        <p:nvSpPr>
          <p:cNvPr id="38" name="Rounded Rectangle 37"/>
          <p:cNvSpPr/>
          <p:nvPr/>
        </p:nvSpPr>
        <p:spPr>
          <a:xfrm>
            <a:off x="10259568" y="1920240"/>
            <a:ext cx="1673352" cy="182880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259568" y="2029968"/>
            <a:ext cx="50292" cy="160934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42448" y="2066544"/>
            <a:ext cx="1325880"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Export</a:t>
            </a:r>
          </a:p>
        </p:txBody>
      </p:sp>
      <p:sp>
        <p:nvSpPr>
          <p:cNvPr id="41" name="TextBox 40"/>
          <p:cNvSpPr txBox="1"/>
          <p:nvPr/>
        </p:nvSpPr>
        <p:spPr>
          <a:xfrm>
            <a:off x="10442448" y="2459736"/>
            <a:ext cx="1325880" cy="121615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Download .md</a:t>
            </a:r>
          </a:p>
        </p:txBody>
      </p:sp>
      <p:sp>
        <p:nvSpPr>
          <p:cNvPr id="42" name="TextBox 41"/>
          <p:cNvSpPr txBox="1"/>
          <p:nvPr/>
        </p:nvSpPr>
        <p:spPr>
          <a:xfrm>
            <a:off x="822960" y="4800600"/>
            <a:ext cx="10515600" cy="502920"/>
          </a:xfrm>
          <a:prstGeom prst="rect">
            <a:avLst/>
          </a:prstGeom>
          <a:noFill/>
        </p:spPr>
        <p:txBody>
          <a:bodyPr wrap="square" lIns="54864" tIns="36576" rIns="54864" bIns="36576">
            <a:spAutoFit/>
          </a:bodyPr>
          <a:lstStyle/>
          <a:p>
            <a:pPr algn="ctr">
              <a:spcAft>
                <a:spcPts val="500"/>
              </a:spcAft>
            </a:pPr>
            <a:r>
              <a:rPr sz="1900" b="1">
                <a:solidFill>
                  <a:srgbClr val="F4F7FF"/>
                </a:solidFill>
                <a:latin typeface="Aptos"/>
              </a:rPr>
              <a:t>The user can correct the recognized text before converting and downloading it.</a:t>
            </a:r>
          </a:p>
        </p:txBody>
      </p:sp>
      <p:sp>
        <p:nvSpPr>
          <p:cNvPr id="43" name="TextBox 42"/>
          <p:cNvSpPr txBox="1"/>
          <p:nvPr/>
        </p:nvSpPr>
        <p:spPr>
          <a:xfrm>
            <a:off x="822960" y="5532120"/>
            <a:ext cx="10515600" cy="320040"/>
          </a:xfrm>
          <a:prstGeom prst="rect">
            <a:avLst/>
          </a:prstGeom>
          <a:noFill/>
        </p:spPr>
        <p:txBody>
          <a:bodyPr wrap="square" lIns="54864" tIns="36576" rIns="54864" bIns="36576">
            <a:spAutoFit/>
          </a:bodyPr>
          <a:lstStyle/>
          <a:p>
            <a:pPr algn="ctr">
              <a:spcAft>
                <a:spcPts val="500"/>
              </a:spcAft>
            </a:pPr>
            <a:r>
              <a:rPr sz="1300" b="0">
                <a:solidFill>
                  <a:srgbClr val="AFBCD5"/>
                </a:solidFill>
                <a:latin typeface="Aptos"/>
              </a:rPr>
              <a:t>Recognition and formatting are separate stages.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a:solidFill>
                  <a:srgbClr val="F4F7FF"/>
                </a:solidFill>
                <a:latin typeface="Aptos"/>
              </a:rPr>
              <a:t>04 | System Architecture</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Responsibilities of the main application components</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05</a:t>
            </a:r>
          </a:p>
        </p:txBody>
      </p:sp>
      <p:sp>
        <p:nvSpPr>
          <p:cNvPr id="7" name="Rounded Rectangle 6"/>
          <p:cNvSpPr/>
          <p:nvPr/>
        </p:nvSpPr>
        <p:spPr>
          <a:xfrm>
            <a:off x="731520" y="1463040"/>
            <a:ext cx="315468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72768"/>
            <a:ext cx="50292" cy="101498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609344"/>
            <a:ext cx="280720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Frontend</a:t>
            </a:r>
          </a:p>
        </p:txBody>
      </p:sp>
      <p:sp>
        <p:nvSpPr>
          <p:cNvPr id="10" name="TextBox 9"/>
          <p:cNvSpPr txBox="1"/>
          <p:nvPr/>
        </p:nvSpPr>
        <p:spPr>
          <a:xfrm>
            <a:off x="914400" y="2002536"/>
            <a:ext cx="2807208" cy="62179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HTML/CSS: upload, mode selector, result editor</a:t>
            </a:r>
          </a:p>
        </p:txBody>
      </p:sp>
      <p:sp>
        <p:nvSpPr>
          <p:cNvPr id="11" name="Rounded Rectangle 10"/>
          <p:cNvSpPr/>
          <p:nvPr/>
        </p:nvSpPr>
        <p:spPr>
          <a:xfrm>
            <a:off x="4526280" y="1463040"/>
            <a:ext cx="315468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26280" y="1572768"/>
            <a:ext cx="50292" cy="101498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60" y="1609344"/>
            <a:ext cx="280720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Flask backend</a:t>
            </a:r>
          </a:p>
        </p:txBody>
      </p:sp>
      <p:sp>
        <p:nvSpPr>
          <p:cNvPr id="14" name="TextBox 13"/>
          <p:cNvSpPr txBox="1"/>
          <p:nvPr/>
        </p:nvSpPr>
        <p:spPr>
          <a:xfrm>
            <a:off x="4709160" y="2002536"/>
            <a:ext cx="2807208" cy="62179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Handles requests and routes the chosen OCR mode</a:t>
            </a:r>
          </a:p>
        </p:txBody>
      </p:sp>
      <p:sp>
        <p:nvSpPr>
          <p:cNvPr id="15" name="Rounded Rectangle 14"/>
          <p:cNvSpPr/>
          <p:nvPr/>
        </p:nvSpPr>
        <p:spPr>
          <a:xfrm>
            <a:off x="8321040" y="1463040"/>
            <a:ext cx="3154680" cy="12344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21040" y="1572768"/>
            <a:ext cx="50292" cy="101498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19" y="1609344"/>
            <a:ext cx="280720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Output stage</a:t>
            </a:r>
          </a:p>
        </p:txBody>
      </p:sp>
      <p:sp>
        <p:nvSpPr>
          <p:cNvPr id="18" name="TextBox 17"/>
          <p:cNvSpPr txBox="1"/>
          <p:nvPr/>
        </p:nvSpPr>
        <p:spPr>
          <a:xfrm>
            <a:off x="8503919" y="2002536"/>
            <a:ext cx="2807208" cy="62179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Markdown formatting and .md download</a:t>
            </a:r>
          </a:p>
        </p:txBody>
      </p:sp>
      <p:sp>
        <p:nvSpPr>
          <p:cNvPr id="19" name="TextBox 18"/>
          <p:cNvSpPr txBox="1"/>
          <p:nvPr/>
        </p:nvSpPr>
        <p:spPr>
          <a:xfrm>
            <a:off x="3913632" y="1856231"/>
            <a:ext cx="411480" cy="365760"/>
          </a:xfrm>
          <a:prstGeom prst="rect">
            <a:avLst/>
          </a:prstGeom>
          <a:noFill/>
        </p:spPr>
        <p:txBody>
          <a:bodyPr wrap="square" lIns="54864" tIns="36576" rIns="54864" bIns="36576">
            <a:spAutoFit/>
          </a:bodyPr>
          <a:lstStyle/>
          <a:p>
            <a:pPr algn="ctr">
              <a:spcAft>
                <a:spcPts val="500"/>
              </a:spcAft>
            </a:pPr>
            <a:r>
              <a:rPr sz="2300" b="1">
                <a:solidFill>
                  <a:srgbClr val="AFBCD5"/>
                </a:solidFill>
                <a:latin typeface="Aptos"/>
              </a:rPr>
              <a:t>→</a:t>
            </a:r>
          </a:p>
        </p:txBody>
      </p:sp>
      <p:sp>
        <p:nvSpPr>
          <p:cNvPr id="20" name="TextBox 19"/>
          <p:cNvSpPr txBox="1"/>
          <p:nvPr/>
        </p:nvSpPr>
        <p:spPr>
          <a:xfrm>
            <a:off x="7708392" y="1856231"/>
            <a:ext cx="411480" cy="365760"/>
          </a:xfrm>
          <a:prstGeom prst="rect">
            <a:avLst/>
          </a:prstGeom>
          <a:noFill/>
        </p:spPr>
        <p:txBody>
          <a:bodyPr wrap="square" lIns="54864" tIns="36576" rIns="54864" bIns="36576">
            <a:spAutoFit/>
          </a:bodyPr>
          <a:lstStyle/>
          <a:p>
            <a:pPr algn="ctr">
              <a:spcAft>
                <a:spcPts val="500"/>
              </a:spcAft>
            </a:pPr>
            <a:r>
              <a:rPr sz="2300" b="1">
                <a:solidFill>
                  <a:srgbClr val="AFBCD5"/>
                </a:solidFill>
                <a:latin typeface="Aptos"/>
              </a:rPr>
              <a:t>→</a:t>
            </a:r>
          </a:p>
        </p:txBody>
      </p:sp>
      <p:sp>
        <p:nvSpPr>
          <p:cNvPr id="21" name="Rounded Rectangle 20"/>
          <p:cNvSpPr/>
          <p:nvPr/>
        </p:nvSpPr>
        <p:spPr>
          <a:xfrm>
            <a:off x="960120" y="3657600"/>
            <a:ext cx="443484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60120" y="3767328"/>
            <a:ext cx="50292" cy="119786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3803904"/>
            <a:ext cx="408736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Printed path</a:t>
            </a:r>
          </a:p>
        </p:txBody>
      </p:sp>
      <p:sp>
        <p:nvSpPr>
          <p:cNvPr id="24" name="TextBox 23"/>
          <p:cNvSpPr txBox="1"/>
          <p:nvPr/>
        </p:nvSpPr>
        <p:spPr>
          <a:xfrm>
            <a:off x="1143000" y="4197096"/>
            <a:ext cx="4087368" cy="804672"/>
          </a:xfrm>
          <a:prstGeom prst="rect">
            <a:avLst/>
          </a:prstGeom>
          <a:noFill/>
        </p:spPr>
        <p:txBody>
          <a:bodyPr wrap="square" lIns="54864" tIns="36576" rIns="54864" bIns="36576">
            <a:spAutoFit/>
          </a:bodyPr>
          <a:lstStyle/>
          <a:p>
            <a:pPr algn="l">
              <a:spcAft>
                <a:spcPts val="500"/>
              </a:spcAft>
            </a:pPr>
            <a:r>
              <a:rPr sz="1500" b="0">
                <a:solidFill>
                  <a:srgbClr val="F4F7FF"/>
                </a:solidFill>
                <a:latin typeface="Aptos"/>
              </a:rPr>
              <a:t>Image → EasyOCR → recognized text</a:t>
            </a:r>
          </a:p>
        </p:txBody>
      </p:sp>
      <p:sp>
        <p:nvSpPr>
          <p:cNvPr id="25" name="Rounded Rectangle 24"/>
          <p:cNvSpPr/>
          <p:nvPr/>
        </p:nvSpPr>
        <p:spPr>
          <a:xfrm>
            <a:off x="6629400" y="3657600"/>
            <a:ext cx="443484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29400" y="3767328"/>
            <a:ext cx="50292" cy="119786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2280" y="3803904"/>
            <a:ext cx="408736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Handwriting path</a:t>
            </a:r>
          </a:p>
        </p:txBody>
      </p:sp>
      <p:sp>
        <p:nvSpPr>
          <p:cNvPr id="28" name="TextBox 27"/>
          <p:cNvSpPr txBox="1"/>
          <p:nvPr/>
        </p:nvSpPr>
        <p:spPr>
          <a:xfrm>
            <a:off x="6812280" y="4197096"/>
            <a:ext cx="4087368" cy="80467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Image → TrOCR processor/model → generated text</a:t>
            </a:r>
          </a:p>
        </p:txBody>
      </p:sp>
      <p:sp>
        <p:nvSpPr>
          <p:cNvPr id="29" name="TextBox 28"/>
          <p:cNvSpPr txBox="1"/>
          <p:nvPr/>
        </p:nvSpPr>
        <p:spPr>
          <a:xfrm>
            <a:off x="914400" y="5577840"/>
            <a:ext cx="10332720" cy="365760"/>
          </a:xfrm>
          <a:prstGeom prst="rect">
            <a:avLst/>
          </a:prstGeom>
          <a:noFill/>
        </p:spPr>
        <p:txBody>
          <a:bodyPr wrap="square" lIns="54864" tIns="36576" rIns="54864" bIns="36576">
            <a:spAutoFit/>
          </a:bodyPr>
          <a:lstStyle/>
          <a:p>
            <a:pPr algn="ctr">
              <a:spcAft>
                <a:spcPts val="500"/>
              </a:spcAft>
            </a:pPr>
            <a:r>
              <a:rPr sz="1700" b="1">
                <a:solidFill>
                  <a:srgbClr val="F4F7FF"/>
                </a:solidFill>
                <a:latin typeface="Aptos"/>
              </a:rPr>
              <a:t>Both paths feed the same text-review and export 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a:solidFill>
                  <a:srgbClr val="F4F7FF"/>
                </a:solidFill>
                <a:latin typeface="Aptos"/>
              </a:rPr>
              <a:t>05 | Dataset &amp; TrOCR Model</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Training context and the model used for handwriting</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06</a:t>
            </a:r>
          </a:p>
        </p:txBody>
      </p:sp>
      <p:sp>
        <p:nvSpPr>
          <p:cNvPr id="7" name="Rounded Rectangle 6"/>
          <p:cNvSpPr/>
          <p:nvPr/>
        </p:nvSpPr>
        <p:spPr>
          <a:xfrm>
            <a:off x="685800" y="1417320"/>
            <a:ext cx="3474720" cy="14630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527048"/>
            <a:ext cx="50292" cy="124358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63624"/>
            <a:ext cx="312724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IAM line dataset</a:t>
            </a:r>
          </a:p>
        </p:txBody>
      </p:sp>
      <p:sp>
        <p:nvSpPr>
          <p:cNvPr id="10" name="TextBox 9"/>
          <p:cNvSpPr txBox="1"/>
          <p:nvPr/>
        </p:nvSpPr>
        <p:spPr>
          <a:xfrm>
            <a:off x="868680" y="1956816"/>
            <a:ext cx="3127248" cy="850392"/>
          </a:xfrm>
          <a:prstGeom prst="rect">
            <a:avLst/>
          </a:prstGeom>
          <a:noFill/>
        </p:spPr>
        <p:txBody>
          <a:bodyPr wrap="square" lIns="54864" tIns="36576" rIns="54864" bIns="36576">
            <a:spAutoFit/>
          </a:bodyPr>
          <a:lstStyle/>
          <a:p>
            <a:pPr algn="l">
              <a:spcAft>
                <a:spcPts val="500"/>
              </a:spcAft>
            </a:pPr>
            <a:r>
              <a:rPr sz="1500" b="0">
                <a:solidFill>
                  <a:srgbClr val="F4F7FF"/>
                </a:solidFill>
                <a:latin typeface="Aptos"/>
              </a:rPr>
              <a:t>Train 6,482 | Validation 976</a:t>
            </a:r>
          </a:p>
          <a:p>
            <a:pPr algn="l">
              <a:spcAft>
                <a:spcPts val="500"/>
              </a:spcAft>
            </a:pPr>
            <a:r>
              <a:rPr sz="1500" b="0">
                <a:solidFill>
                  <a:srgbClr val="F4F7FF"/>
                </a:solidFill>
                <a:latin typeface="Aptos"/>
              </a:rPr>
              <a:t>Test 2,915</a:t>
            </a:r>
          </a:p>
        </p:txBody>
      </p:sp>
      <p:sp>
        <p:nvSpPr>
          <p:cNvPr id="11" name="Rounded Rectangle 10"/>
          <p:cNvSpPr/>
          <p:nvPr/>
        </p:nvSpPr>
        <p:spPr>
          <a:xfrm>
            <a:off x="4343400" y="1417320"/>
            <a:ext cx="3474720" cy="14630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527048"/>
            <a:ext cx="50292" cy="124358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563624"/>
            <a:ext cx="312724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TrOCR architecture</a:t>
            </a:r>
          </a:p>
        </p:txBody>
      </p:sp>
      <p:sp>
        <p:nvSpPr>
          <p:cNvPr id="14" name="TextBox 13"/>
          <p:cNvSpPr txBox="1"/>
          <p:nvPr/>
        </p:nvSpPr>
        <p:spPr>
          <a:xfrm>
            <a:off x="4526280" y="1956816"/>
            <a:ext cx="3127248" cy="85039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Vision encoder extracts image features; text decoder generates tokens.</a:t>
            </a:r>
          </a:p>
        </p:txBody>
      </p:sp>
      <p:sp>
        <p:nvSpPr>
          <p:cNvPr id="15" name="Rounded Rectangle 14"/>
          <p:cNvSpPr/>
          <p:nvPr/>
        </p:nvSpPr>
        <p:spPr>
          <a:xfrm>
            <a:off x="8001000" y="1417320"/>
            <a:ext cx="3474720" cy="146304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527048"/>
            <a:ext cx="50292" cy="124358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1563624"/>
            <a:ext cx="312724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Fine-tuning</a:t>
            </a:r>
          </a:p>
        </p:txBody>
      </p:sp>
      <p:sp>
        <p:nvSpPr>
          <p:cNvPr id="18" name="TextBox 17"/>
          <p:cNvSpPr txBox="1"/>
          <p:nvPr/>
        </p:nvSpPr>
        <p:spPr>
          <a:xfrm>
            <a:off x="8183879" y="1956816"/>
            <a:ext cx="3127248" cy="85039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Pretrained model adapted using labeled handwriting images and transcriptions.</a:t>
            </a:r>
          </a:p>
        </p:txBody>
      </p:sp>
      <p:sp>
        <p:nvSpPr>
          <p:cNvPr id="19" name="TextBox 18"/>
          <p:cNvSpPr txBox="1"/>
          <p:nvPr/>
        </p:nvSpPr>
        <p:spPr>
          <a:xfrm>
            <a:off x="822960" y="3657600"/>
            <a:ext cx="2651760" cy="320040"/>
          </a:xfrm>
          <a:prstGeom prst="rect">
            <a:avLst/>
          </a:prstGeom>
          <a:noFill/>
        </p:spPr>
        <p:txBody>
          <a:bodyPr wrap="square" lIns="54864" tIns="36576" rIns="54864" bIns="36576">
            <a:spAutoFit/>
          </a:bodyPr>
          <a:lstStyle/>
          <a:p>
            <a:pPr algn="l">
              <a:spcAft>
                <a:spcPts val="500"/>
              </a:spcAft>
            </a:pPr>
            <a:r>
              <a:rPr sz="1700" b="1">
                <a:solidFill>
                  <a:srgbClr val="36D3E0"/>
                </a:solidFill>
                <a:latin typeface="Aptos"/>
              </a:rPr>
              <a:t>Why this model?</a:t>
            </a:r>
          </a:p>
        </p:txBody>
      </p:sp>
      <p:sp>
        <p:nvSpPr>
          <p:cNvPr id="20" name="TextBox 19"/>
          <p:cNvSpPr txBox="1"/>
          <p:nvPr/>
        </p:nvSpPr>
        <p:spPr>
          <a:xfrm>
            <a:off x="868680" y="4114800"/>
            <a:ext cx="10241280" cy="1417320"/>
          </a:xfrm>
          <a:prstGeom prst="rect">
            <a:avLst/>
          </a:prstGeom>
          <a:noFill/>
        </p:spPr>
        <p:txBody>
          <a:bodyPr wrap="square" lIns="54864" tIns="36576" rIns="54864" bIns="36576">
            <a:spAutoFit/>
          </a:bodyPr>
          <a:lstStyle/>
          <a:p>
            <a:pPr algn="l">
              <a:spcAft>
                <a:spcPts val="500"/>
              </a:spcAft>
            </a:pPr>
            <a:r>
              <a:rPr sz="1600" b="0">
                <a:solidFill>
                  <a:srgbClr val="F4F7FF"/>
                </a:solidFill>
                <a:latin typeface="Aptos"/>
              </a:rPr>
              <a:t>• Uses pretrained visual and text representations.</a:t>
            </a:r>
          </a:p>
          <a:p>
            <a:pPr algn="l">
              <a:spcAft>
                <a:spcPts val="500"/>
              </a:spcAft>
            </a:pPr>
            <a:r>
              <a:rPr sz="1600" b="0">
                <a:solidFill>
                  <a:srgbClr val="F4F7FF"/>
                </a:solidFill>
                <a:latin typeface="Aptos"/>
              </a:rPr>
              <a:t>• Fine-tuning targets the handwriting domain in the project dataset.</a:t>
            </a:r>
          </a:p>
          <a:p>
            <a:pPr algn="l">
              <a:spcAft>
                <a:spcPts val="500"/>
              </a:spcAft>
            </a:pPr>
            <a:r>
              <a:rPr sz="1600" b="0">
                <a:solidFill>
                  <a:srgbClr val="F4F7FF"/>
                </a:solidFill>
                <a:latin typeface="Aptos"/>
              </a:rPr>
              <a:t>• Inference runs locally on CPU, so evaluation can take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dirty="0">
                <a:solidFill>
                  <a:srgbClr val="F4F7FF"/>
                </a:solidFill>
                <a:latin typeface="Aptos"/>
              </a:rPr>
              <a:t>0</a:t>
            </a:r>
            <a:r>
              <a:rPr lang="en-IN" sz="2700" b="1" dirty="0">
                <a:solidFill>
                  <a:srgbClr val="F4F7FF"/>
                </a:solidFill>
                <a:latin typeface="Aptos"/>
              </a:rPr>
              <a:t>6</a:t>
            </a:r>
            <a:r>
              <a:rPr sz="2700" b="1" dirty="0">
                <a:solidFill>
                  <a:srgbClr val="F4F7FF"/>
                </a:solidFill>
                <a:latin typeface="Aptos"/>
              </a:rPr>
              <a:t> | Evaluation Method</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How the handwriting model was measured</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08</a:t>
            </a:r>
          </a:p>
        </p:txBody>
      </p:sp>
      <p:sp>
        <p:nvSpPr>
          <p:cNvPr id="7" name="Rounded Rectangle 6"/>
          <p:cNvSpPr/>
          <p:nvPr/>
        </p:nvSpPr>
        <p:spPr>
          <a:xfrm>
            <a:off x="731520" y="1463040"/>
            <a:ext cx="342900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72768"/>
            <a:ext cx="50292" cy="119786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609344"/>
            <a:ext cx="308152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Test set</a:t>
            </a:r>
          </a:p>
        </p:txBody>
      </p:sp>
      <p:sp>
        <p:nvSpPr>
          <p:cNvPr id="10" name="TextBox 9"/>
          <p:cNvSpPr txBox="1"/>
          <p:nvPr/>
        </p:nvSpPr>
        <p:spPr>
          <a:xfrm>
            <a:off x="914400" y="2002536"/>
            <a:ext cx="3081528" cy="804672"/>
          </a:xfrm>
          <a:prstGeom prst="rect">
            <a:avLst/>
          </a:prstGeom>
          <a:noFill/>
        </p:spPr>
        <p:txBody>
          <a:bodyPr wrap="square" lIns="54864" tIns="36576" rIns="54864" bIns="36576">
            <a:spAutoFit/>
          </a:bodyPr>
          <a:lstStyle/>
          <a:p>
            <a:pPr algn="l">
              <a:spcAft>
                <a:spcPts val="500"/>
              </a:spcAft>
            </a:pPr>
            <a:r>
              <a:rPr sz="1500" b="0">
                <a:solidFill>
                  <a:srgbClr val="F4F7FF"/>
                </a:solidFill>
                <a:latin typeface="Aptos"/>
              </a:rPr>
              <a:t>2,915 IAM test images</a:t>
            </a:r>
          </a:p>
        </p:txBody>
      </p:sp>
      <p:sp>
        <p:nvSpPr>
          <p:cNvPr id="11" name="Rounded Rectangle 10"/>
          <p:cNvSpPr/>
          <p:nvPr/>
        </p:nvSpPr>
        <p:spPr>
          <a:xfrm>
            <a:off x="4389120" y="1463040"/>
            <a:ext cx="342900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572768"/>
            <a:ext cx="50292" cy="119786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609344"/>
            <a:ext cx="308152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CER</a:t>
            </a:r>
          </a:p>
        </p:txBody>
      </p:sp>
      <p:sp>
        <p:nvSpPr>
          <p:cNvPr id="14" name="TextBox 13"/>
          <p:cNvSpPr txBox="1"/>
          <p:nvPr/>
        </p:nvSpPr>
        <p:spPr>
          <a:xfrm>
            <a:off x="4572000" y="2002536"/>
            <a:ext cx="3081528" cy="80467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Character-level edit errors / reference characters</a:t>
            </a:r>
          </a:p>
        </p:txBody>
      </p:sp>
      <p:sp>
        <p:nvSpPr>
          <p:cNvPr id="15" name="Rounded Rectangle 14"/>
          <p:cNvSpPr/>
          <p:nvPr/>
        </p:nvSpPr>
        <p:spPr>
          <a:xfrm>
            <a:off x="8046720" y="1463040"/>
            <a:ext cx="342900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572768"/>
            <a:ext cx="50292" cy="119786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609344"/>
            <a:ext cx="308152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WER</a:t>
            </a:r>
          </a:p>
        </p:txBody>
      </p:sp>
      <p:sp>
        <p:nvSpPr>
          <p:cNvPr id="18" name="TextBox 17"/>
          <p:cNvSpPr txBox="1"/>
          <p:nvPr/>
        </p:nvSpPr>
        <p:spPr>
          <a:xfrm>
            <a:off x="8229600" y="2002536"/>
            <a:ext cx="3081528" cy="80467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Word-level edit errors / reference words</a:t>
            </a:r>
          </a:p>
        </p:txBody>
      </p:sp>
      <p:sp>
        <p:nvSpPr>
          <p:cNvPr id="19" name="TextBox 18"/>
          <p:cNvSpPr txBox="1"/>
          <p:nvPr/>
        </p:nvSpPr>
        <p:spPr>
          <a:xfrm>
            <a:off x="868680" y="3657600"/>
            <a:ext cx="4754880" cy="320040"/>
          </a:xfrm>
          <a:prstGeom prst="rect">
            <a:avLst/>
          </a:prstGeom>
          <a:noFill/>
        </p:spPr>
        <p:txBody>
          <a:bodyPr wrap="square" lIns="54864" tIns="36576" rIns="54864" bIns="36576">
            <a:spAutoFit/>
          </a:bodyPr>
          <a:lstStyle/>
          <a:p>
            <a:pPr algn="l">
              <a:spcAft>
                <a:spcPts val="500"/>
              </a:spcAft>
            </a:pPr>
            <a:r>
              <a:rPr sz="1700" b="1">
                <a:solidFill>
                  <a:srgbClr val="36D3E0"/>
                </a:solidFill>
                <a:latin typeface="Aptos"/>
              </a:rPr>
              <a:t>Additional metric: exact-match rate</a:t>
            </a:r>
          </a:p>
        </p:txBody>
      </p:sp>
      <p:sp>
        <p:nvSpPr>
          <p:cNvPr id="20" name="TextBox 19"/>
          <p:cNvSpPr txBox="1"/>
          <p:nvPr/>
        </p:nvSpPr>
        <p:spPr>
          <a:xfrm>
            <a:off x="868680" y="4069080"/>
            <a:ext cx="10424160" cy="640080"/>
          </a:xfrm>
          <a:prstGeom prst="rect">
            <a:avLst/>
          </a:prstGeom>
          <a:noFill/>
        </p:spPr>
        <p:txBody>
          <a:bodyPr wrap="square" lIns="54864" tIns="36576" rIns="54864" bIns="36576">
            <a:spAutoFit/>
          </a:bodyPr>
          <a:lstStyle/>
          <a:p>
            <a:pPr algn="l">
              <a:spcAft>
                <a:spcPts val="500"/>
              </a:spcAft>
            </a:pPr>
            <a:r>
              <a:rPr sz="1900" b="1">
                <a:solidFill>
                  <a:srgbClr val="F4F7FF"/>
                </a:solidFill>
                <a:latin typeface="Aptos"/>
              </a:rPr>
              <a:t>Percentage of test examples whose complete normalized prediction matches the reference transcription.</a:t>
            </a:r>
          </a:p>
        </p:txBody>
      </p:sp>
      <p:sp>
        <p:nvSpPr>
          <p:cNvPr id="21" name="TextBox 20"/>
          <p:cNvSpPr txBox="1"/>
          <p:nvPr/>
        </p:nvSpPr>
        <p:spPr>
          <a:xfrm>
            <a:off x="868680" y="5166360"/>
            <a:ext cx="10424160" cy="320040"/>
          </a:xfrm>
          <a:prstGeom prst="rect">
            <a:avLst/>
          </a:prstGeom>
          <a:noFill/>
        </p:spPr>
        <p:txBody>
          <a:bodyPr wrap="square" lIns="54864" tIns="36576" rIns="54864" bIns="36576">
            <a:spAutoFit/>
          </a:bodyPr>
          <a:lstStyle/>
          <a:p>
            <a:pPr algn="l">
              <a:spcAft>
                <a:spcPts val="500"/>
              </a:spcAft>
            </a:pPr>
            <a:r>
              <a:rPr sz="1500" b="1">
                <a:solidFill>
                  <a:srgbClr val="FFC35E"/>
                </a:solidFill>
                <a:latin typeface="Aptos"/>
              </a:rPr>
              <a:t>Lower CER/WER is better. Higher exact-match rate is better.</a:t>
            </a:r>
          </a:p>
        </p:txBody>
      </p:sp>
      <p:sp>
        <p:nvSpPr>
          <p:cNvPr id="22" name="TextBox 21"/>
          <p:cNvSpPr txBox="1"/>
          <p:nvPr/>
        </p:nvSpPr>
        <p:spPr>
          <a:xfrm>
            <a:off x="868680" y="5715000"/>
            <a:ext cx="1051560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Evaluation ran locally on CPU: 2,915 successes and zero failed images.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dirty="0">
                <a:solidFill>
                  <a:srgbClr val="F4F7FF"/>
                </a:solidFill>
                <a:latin typeface="Aptos"/>
              </a:rPr>
              <a:t>0</a:t>
            </a:r>
            <a:r>
              <a:rPr lang="en-IN" sz="2700" b="1" dirty="0">
                <a:solidFill>
                  <a:srgbClr val="F4F7FF"/>
                </a:solidFill>
                <a:latin typeface="Aptos"/>
              </a:rPr>
              <a:t>7</a:t>
            </a:r>
            <a:r>
              <a:rPr sz="2700" b="1" dirty="0">
                <a:solidFill>
                  <a:srgbClr val="F4F7FF"/>
                </a:solidFill>
                <a:latin typeface="Aptos"/>
              </a:rPr>
              <a:t> | Results &amp; Evaluation</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dirty="0">
                <a:solidFill>
                  <a:srgbClr val="AFBCD5"/>
                </a:solidFill>
                <a:latin typeface="Aptos"/>
              </a:rPr>
              <a:t>Measured locally on the IAM handwriting test split</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09</a:t>
            </a:r>
          </a:p>
        </p:txBody>
      </p:sp>
      <p:sp>
        <p:nvSpPr>
          <p:cNvPr id="7" name="Rounded Rectangle 6"/>
          <p:cNvSpPr/>
          <p:nvPr/>
        </p:nvSpPr>
        <p:spPr>
          <a:xfrm>
            <a:off x="777240" y="1554480"/>
            <a:ext cx="3246120" cy="1828800"/>
          </a:xfrm>
          <a:prstGeom prst="roundRect">
            <a:avLst/>
          </a:prstGeom>
          <a:solidFill>
            <a:srgbClr val="151F3A"/>
          </a:solidFill>
          <a:ln>
            <a:solidFill>
              <a:srgbClr val="36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83080"/>
            <a:ext cx="2971800" cy="292608"/>
          </a:xfrm>
          <a:prstGeom prst="rect">
            <a:avLst/>
          </a:prstGeom>
          <a:noFill/>
        </p:spPr>
        <p:txBody>
          <a:bodyPr wrap="square" lIns="54864" tIns="36576" rIns="54864" bIns="36576">
            <a:spAutoFit/>
          </a:bodyPr>
          <a:lstStyle/>
          <a:p>
            <a:pPr algn="ctr">
              <a:spcAft>
                <a:spcPts val="500"/>
              </a:spcAft>
            </a:pPr>
            <a:r>
              <a:rPr sz="1600" b="1">
                <a:solidFill>
                  <a:srgbClr val="36D3E0"/>
                </a:solidFill>
                <a:latin typeface="Aptos"/>
              </a:rPr>
              <a:t>CER</a:t>
            </a:r>
          </a:p>
        </p:txBody>
      </p:sp>
      <p:sp>
        <p:nvSpPr>
          <p:cNvPr id="9" name="TextBox 8"/>
          <p:cNvSpPr txBox="1"/>
          <p:nvPr/>
        </p:nvSpPr>
        <p:spPr>
          <a:xfrm>
            <a:off x="914400" y="2240280"/>
            <a:ext cx="2971800" cy="502920"/>
          </a:xfrm>
          <a:prstGeom prst="rect">
            <a:avLst/>
          </a:prstGeom>
          <a:noFill/>
        </p:spPr>
        <p:txBody>
          <a:bodyPr wrap="square" lIns="54864" tIns="36576" rIns="54864" bIns="36576">
            <a:spAutoFit/>
          </a:bodyPr>
          <a:lstStyle/>
          <a:p>
            <a:pPr algn="ctr">
              <a:spcAft>
                <a:spcPts val="500"/>
              </a:spcAft>
            </a:pPr>
            <a:r>
              <a:rPr sz="2900" b="1">
                <a:solidFill>
                  <a:srgbClr val="F4F7FF"/>
                </a:solidFill>
                <a:latin typeface="Aptos"/>
              </a:rPr>
              <a:t>6.44%</a:t>
            </a:r>
          </a:p>
        </p:txBody>
      </p:sp>
      <p:sp>
        <p:nvSpPr>
          <p:cNvPr id="10" name="TextBox 9"/>
          <p:cNvSpPr txBox="1"/>
          <p:nvPr/>
        </p:nvSpPr>
        <p:spPr>
          <a:xfrm>
            <a:off x="914400" y="2880360"/>
            <a:ext cx="2971800" cy="274320"/>
          </a:xfrm>
          <a:prstGeom prst="rect">
            <a:avLst/>
          </a:prstGeom>
          <a:noFill/>
        </p:spPr>
        <p:txBody>
          <a:bodyPr wrap="square" lIns="54864" tIns="36576" rIns="54864" bIns="36576">
            <a:spAutoFit/>
          </a:bodyPr>
          <a:lstStyle/>
          <a:p>
            <a:pPr algn="ctr">
              <a:spcAft>
                <a:spcPts val="500"/>
              </a:spcAft>
            </a:pPr>
            <a:r>
              <a:rPr sz="1100" b="0">
                <a:solidFill>
                  <a:srgbClr val="AFBCD5"/>
                </a:solidFill>
                <a:latin typeface="Aptos"/>
              </a:rPr>
              <a:t>Character Error Rate</a:t>
            </a:r>
          </a:p>
        </p:txBody>
      </p:sp>
      <p:sp>
        <p:nvSpPr>
          <p:cNvPr id="11" name="Rounded Rectangle 10"/>
          <p:cNvSpPr/>
          <p:nvPr/>
        </p:nvSpPr>
        <p:spPr>
          <a:xfrm>
            <a:off x="4434840" y="1554480"/>
            <a:ext cx="3246120" cy="1828800"/>
          </a:xfrm>
          <a:prstGeom prst="roundRect">
            <a:avLst/>
          </a:prstGeom>
          <a:solidFill>
            <a:srgbClr val="151F3A"/>
          </a:solidFill>
          <a:ln>
            <a:solidFill>
              <a:srgbClr val="9A7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783080"/>
            <a:ext cx="2971800" cy="292608"/>
          </a:xfrm>
          <a:prstGeom prst="rect">
            <a:avLst/>
          </a:prstGeom>
          <a:noFill/>
        </p:spPr>
        <p:txBody>
          <a:bodyPr wrap="square" lIns="54864" tIns="36576" rIns="54864" bIns="36576">
            <a:spAutoFit/>
          </a:bodyPr>
          <a:lstStyle/>
          <a:p>
            <a:pPr algn="ctr">
              <a:spcAft>
                <a:spcPts val="500"/>
              </a:spcAft>
            </a:pPr>
            <a:r>
              <a:rPr sz="1600" b="1">
                <a:solidFill>
                  <a:srgbClr val="9A75FF"/>
                </a:solidFill>
                <a:latin typeface="Aptos"/>
              </a:rPr>
              <a:t>WER</a:t>
            </a:r>
          </a:p>
        </p:txBody>
      </p:sp>
      <p:sp>
        <p:nvSpPr>
          <p:cNvPr id="13" name="TextBox 12"/>
          <p:cNvSpPr txBox="1"/>
          <p:nvPr/>
        </p:nvSpPr>
        <p:spPr>
          <a:xfrm>
            <a:off x="4572000" y="2240280"/>
            <a:ext cx="2971800" cy="502920"/>
          </a:xfrm>
          <a:prstGeom prst="rect">
            <a:avLst/>
          </a:prstGeom>
          <a:noFill/>
        </p:spPr>
        <p:txBody>
          <a:bodyPr wrap="square" lIns="54864" tIns="36576" rIns="54864" bIns="36576">
            <a:spAutoFit/>
          </a:bodyPr>
          <a:lstStyle/>
          <a:p>
            <a:pPr algn="ctr">
              <a:spcAft>
                <a:spcPts val="500"/>
              </a:spcAft>
            </a:pPr>
            <a:r>
              <a:rPr sz="2900" b="1">
                <a:solidFill>
                  <a:srgbClr val="F4F7FF"/>
                </a:solidFill>
                <a:latin typeface="Aptos"/>
              </a:rPr>
              <a:t>14.77%</a:t>
            </a:r>
          </a:p>
        </p:txBody>
      </p:sp>
      <p:sp>
        <p:nvSpPr>
          <p:cNvPr id="14" name="TextBox 13"/>
          <p:cNvSpPr txBox="1"/>
          <p:nvPr/>
        </p:nvSpPr>
        <p:spPr>
          <a:xfrm>
            <a:off x="4572000" y="2880360"/>
            <a:ext cx="2971800" cy="274320"/>
          </a:xfrm>
          <a:prstGeom prst="rect">
            <a:avLst/>
          </a:prstGeom>
          <a:noFill/>
        </p:spPr>
        <p:txBody>
          <a:bodyPr wrap="square" lIns="54864" tIns="36576" rIns="54864" bIns="36576">
            <a:spAutoFit/>
          </a:bodyPr>
          <a:lstStyle/>
          <a:p>
            <a:pPr algn="ctr">
              <a:spcAft>
                <a:spcPts val="500"/>
              </a:spcAft>
            </a:pPr>
            <a:r>
              <a:rPr sz="1100" b="0">
                <a:solidFill>
                  <a:srgbClr val="AFBCD5"/>
                </a:solidFill>
                <a:latin typeface="Aptos"/>
              </a:rPr>
              <a:t>Word Error Rate</a:t>
            </a:r>
          </a:p>
        </p:txBody>
      </p:sp>
      <p:sp>
        <p:nvSpPr>
          <p:cNvPr id="15" name="Rounded Rectangle 14"/>
          <p:cNvSpPr/>
          <p:nvPr/>
        </p:nvSpPr>
        <p:spPr>
          <a:xfrm>
            <a:off x="8092440" y="1554480"/>
            <a:ext cx="3246120" cy="1828800"/>
          </a:xfrm>
          <a:prstGeom prst="roundRect">
            <a:avLst/>
          </a:prstGeom>
          <a:solidFill>
            <a:srgbClr val="151F3A"/>
          </a:solidFill>
          <a:ln>
            <a:solidFill>
              <a:srgbClr val="66D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783080"/>
            <a:ext cx="2971800" cy="292608"/>
          </a:xfrm>
          <a:prstGeom prst="rect">
            <a:avLst/>
          </a:prstGeom>
          <a:noFill/>
        </p:spPr>
        <p:txBody>
          <a:bodyPr wrap="square" lIns="54864" tIns="36576" rIns="54864" bIns="36576">
            <a:spAutoFit/>
          </a:bodyPr>
          <a:lstStyle/>
          <a:p>
            <a:pPr algn="ctr">
              <a:spcAft>
                <a:spcPts val="500"/>
              </a:spcAft>
            </a:pPr>
            <a:r>
              <a:rPr sz="1600" b="1">
                <a:solidFill>
                  <a:srgbClr val="66DCAA"/>
                </a:solidFill>
                <a:latin typeface="Aptos"/>
              </a:rPr>
              <a:t>Exact match</a:t>
            </a:r>
          </a:p>
        </p:txBody>
      </p:sp>
      <p:sp>
        <p:nvSpPr>
          <p:cNvPr id="17" name="TextBox 16"/>
          <p:cNvSpPr txBox="1"/>
          <p:nvPr/>
        </p:nvSpPr>
        <p:spPr>
          <a:xfrm>
            <a:off x="8229600" y="2240280"/>
            <a:ext cx="2971800" cy="502920"/>
          </a:xfrm>
          <a:prstGeom prst="rect">
            <a:avLst/>
          </a:prstGeom>
          <a:noFill/>
        </p:spPr>
        <p:txBody>
          <a:bodyPr wrap="square" lIns="54864" tIns="36576" rIns="54864" bIns="36576">
            <a:spAutoFit/>
          </a:bodyPr>
          <a:lstStyle/>
          <a:p>
            <a:pPr algn="ctr">
              <a:spcAft>
                <a:spcPts val="500"/>
              </a:spcAft>
            </a:pPr>
            <a:r>
              <a:rPr sz="2900" b="1">
                <a:solidFill>
                  <a:srgbClr val="F4F7FF"/>
                </a:solidFill>
                <a:latin typeface="Aptos"/>
              </a:rPr>
              <a:t>38.15%</a:t>
            </a:r>
          </a:p>
        </p:txBody>
      </p:sp>
      <p:sp>
        <p:nvSpPr>
          <p:cNvPr id="18" name="TextBox 17"/>
          <p:cNvSpPr txBox="1"/>
          <p:nvPr/>
        </p:nvSpPr>
        <p:spPr>
          <a:xfrm>
            <a:off x="8229600" y="2880360"/>
            <a:ext cx="2971800" cy="274320"/>
          </a:xfrm>
          <a:prstGeom prst="rect">
            <a:avLst/>
          </a:prstGeom>
          <a:noFill/>
        </p:spPr>
        <p:txBody>
          <a:bodyPr wrap="square" lIns="54864" tIns="36576" rIns="54864" bIns="36576">
            <a:spAutoFit/>
          </a:bodyPr>
          <a:lstStyle/>
          <a:p>
            <a:pPr algn="ctr">
              <a:spcAft>
                <a:spcPts val="500"/>
              </a:spcAft>
            </a:pPr>
            <a:r>
              <a:rPr sz="1100" b="0">
                <a:solidFill>
                  <a:srgbClr val="AFBCD5"/>
                </a:solidFill>
                <a:latin typeface="Aptos"/>
              </a:rPr>
              <a:t>1,112 of 2,915 examples</a:t>
            </a:r>
          </a:p>
        </p:txBody>
      </p:sp>
      <p:sp>
        <p:nvSpPr>
          <p:cNvPr id="19" name="Rounded Rectangle 18"/>
          <p:cNvSpPr/>
          <p:nvPr/>
        </p:nvSpPr>
        <p:spPr>
          <a:xfrm>
            <a:off x="822960" y="3840480"/>
            <a:ext cx="5074920" cy="11887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960" y="3950208"/>
            <a:ext cx="50292" cy="96926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3986784"/>
            <a:ext cx="472744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Evaluation coverage</a:t>
            </a:r>
          </a:p>
        </p:txBody>
      </p:sp>
      <p:sp>
        <p:nvSpPr>
          <p:cNvPr id="22" name="TextBox 21"/>
          <p:cNvSpPr txBox="1"/>
          <p:nvPr/>
        </p:nvSpPr>
        <p:spPr>
          <a:xfrm>
            <a:off x="1005840" y="4379976"/>
            <a:ext cx="4727448" cy="57607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2,915 processed • 2,915 successful • 0 failed</a:t>
            </a:r>
          </a:p>
        </p:txBody>
      </p:sp>
      <p:sp>
        <p:nvSpPr>
          <p:cNvPr id="23" name="Rounded Rectangle 22"/>
          <p:cNvSpPr/>
          <p:nvPr/>
        </p:nvSpPr>
        <p:spPr>
          <a:xfrm>
            <a:off x="6263640" y="3840480"/>
            <a:ext cx="5074920" cy="11887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63640" y="3950208"/>
            <a:ext cx="50292" cy="96926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3986784"/>
            <a:ext cx="472744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Interpretation</a:t>
            </a:r>
          </a:p>
        </p:txBody>
      </p:sp>
      <p:sp>
        <p:nvSpPr>
          <p:cNvPr id="26" name="TextBox 25"/>
          <p:cNvSpPr txBox="1"/>
          <p:nvPr/>
        </p:nvSpPr>
        <p:spPr>
          <a:xfrm>
            <a:off x="6446520" y="4379976"/>
            <a:ext cx="4727448" cy="576072"/>
          </a:xfrm>
          <a:prstGeom prst="rect">
            <a:avLst/>
          </a:prstGeom>
          <a:noFill/>
        </p:spPr>
        <p:txBody>
          <a:bodyPr wrap="square" lIns="54864" tIns="36576" rIns="54864" bIns="36576">
            <a:spAutoFit/>
          </a:bodyPr>
          <a:lstStyle/>
          <a:p>
            <a:pPr algn="l">
              <a:spcAft>
                <a:spcPts val="500"/>
              </a:spcAft>
            </a:pPr>
            <a:r>
              <a:rPr sz="1300" b="0">
                <a:solidFill>
                  <a:srgbClr val="F4F7FF"/>
                </a:solidFill>
                <a:latin typeface="Aptos"/>
              </a:rPr>
              <a:t>Character errors are relatively low; exact full-line matches remain limited.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sz="2700" b="1" dirty="0">
                <a:solidFill>
                  <a:srgbClr val="F4F7FF"/>
                </a:solidFill>
                <a:latin typeface="Aptos"/>
              </a:rPr>
              <a:t>0</a:t>
            </a:r>
            <a:r>
              <a:rPr lang="en-IN" sz="2700" b="1" dirty="0">
                <a:solidFill>
                  <a:srgbClr val="F4F7FF"/>
                </a:solidFill>
                <a:latin typeface="Aptos"/>
              </a:rPr>
              <a:t>8</a:t>
            </a:r>
            <a:r>
              <a:rPr sz="2700" b="1" dirty="0">
                <a:solidFill>
                  <a:srgbClr val="F4F7FF"/>
                </a:solidFill>
                <a:latin typeface="Aptos"/>
              </a:rPr>
              <a:t> | Contribution &amp; Practical Value</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What this project contributes as an applied system</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10</a:t>
            </a:r>
          </a:p>
        </p:txBody>
      </p:sp>
      <p:sp>
        <p:nvSpPr>
          <p:cNvPr id="7" name="Rounded Rectangle 6"/>
          <p:cNvSpPr/>
          <p:nvPr/>
        </p:nvSpPr>
        <p:spPr>
          <a:xfrm>
            <a:off x="731520" y="1463040"/>
            <a:ext cx="3474720" cy="155448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72768"/>
            <a:ext cx="50292" cy="133502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609344"/>
            <a:ext cx="312724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Dual-path OCR</a:t>
            </a:r>
          </a:p>
        </p:txBody>
      </p:sp>
      <p:sp>
        <p:nvSpPr>
          <p:cNvPr id="10" name="TextBox 9"/>
          <p:cNvSpPr txBox="1"/>
          <p:nvPr/>
        </p:nvSpPr>
        <p:spPr>
          <a:xfrm>
            <a:off x="914400" y="2002536"/>
            <a:ext cx="3127248" cy="941831"/>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Printed-text and handwriting routes in one web application.</a:t>
            </a:r>
          </a:p>
        </p:txBody>
      </p:sp>
      <p:sp>
        <p:nvSpPr>
          <p:cNvPr id="11" name="Rounded Rectangle 10"/>
          <p:cNvSpPr/>
          <p:nvPr/>
        </p:nvSpPr>
        <p:spPr>
          <a:xfrm>
            <a:off x="4389120" y="1463040"/>
            <a:ext cx="3474720" cy="155448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572768"/>
            <a:ext cx="50292" cy="133502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609344"/>
            <a:ext cx="312724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Editable results</a:t>
            </a:r>
          </a:p>
        </p:txBody>
      </p:sp>
      <p:sp>
        <p:nvSpPr>
          <p:cNvPr id="14" name="TextBox 13"/>
          <p:cNvSpPr txBox="1"/>
          <p:nvPr/>
        </p:nvSpPr>
        <p:spPr>
          <a:xfrm>
            <a:off x="4572000" y="2002536"/>
            <a:ext cx="3127248" cy="941831"/>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Users can review and correct recognized text before export.</a:t>
            </a:r>
          </a:p>
        </p:txBody>
      </p:sp>
      <p:sp>
        <p:nvSpPr>
          <p:cNvPr id="15" name="Rounded Rectangle 14"/>
          <p:cNvSpPr/>
          <p:nvPr/>
        </p:nvSpPr>
        <p:spPr>
          <a:xfrm>
            <a:off x="8046720" y="1463040"/>
            <a:ext cx="3474720" cy="155448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572768"/>
            <a:ext cx="50292" cy="133502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609344"/>
            <a:ext cx="312724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Reusable output</a:t>
            </a:r>
          </a:p>
        </p:txBody>
      </p:sp>
      <p:sp>
        <p:nvSpPr>
          <p:cNvPr id="18" name="TextBox 17"/>
          <p:cNvSpPr txBox="1"/>
          <p:nvPr/>
        </p:nvSpPr>
        <p:spPr>
          <a:xfrm>
            <a:off x="8229600" y="2002536"/>
            <a:ext cx="3127248" cy="941831"/>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Markdown conversion and download support downstream use.</a:t>
            </a:r>
          </a:p>
        </p:txBody>
      </p:sp>
      <p:sp>
        <p:nvSpPr>
          <p:cNvPr id="19" name="TextBox 18"/>
          <p:cNvSpPr txBox="1"/>
          <p:nvPr/>
        </p:nvSpPr>
        <p:spPr>
          <a:xfrm>
            <a:off x="868680" y="3794760"/>
            <a:ext cx="2743200" cy="320040"/>
          </a:xfrm>
          <a:prstGeom prst="rect">
            <a:avLst/>
          </a:prstGeom>
          <a:noFill/>
        </p:spPr>
        <p:txBody>
          <a:bodyPr wrap="square" lIns="54864" tIns="36576" rIns="54864" bIns="36576">
            <a:spAutoFit/>
          </a:bodyPr>
          <a:lstStyle/>
          <a:p>
            <a:pPr algn="l">
              <a:spcAft>
                <a:spcPts val="500"/>
              </a:spcAft>
            </a:pPr>
            <a:r>
              <a:rPr sz="1700" b="1">
                <a:solidFill>
                  <a:srgbClr val="FFC35E"/>
                </a:solidFill>
                <a:latin typeface="Aptos"/>
              </a:rPr>
              <a:t>Accurate novelty claim</a:t>
            </a:r>
          </a:p>
        </p:txBody>
      </p:sp>
      <p:sp>
        <p:nvSpPr>
          <p:cNvPr id="20" name="TextBox 19"/>
          <p:cNvSpPr txBox="1"/>
          <p:nvPr/>
        </p:nvSpPr>
        <p:spPr>
          <a:xfrm>
            <a:off x="868680" y="4251960"/>
            <a:ext cx="10515600" cy="960120"/>
          </a:xfrm>
          <a:prstGeom prst="rect">
            <a:avLst/>
          </a:prstGeom>
          <a:noFill/>
        </p:spPr>
        <p:txBody>
          <a:bodyPr wrap="square" lIns="54864" tIns="36576" rIns="54864" bIns="36576">
            <a:spAutoFit/>
          </a:bodyPr>
          <a:lstStyle/>
          <a:p>
            <a:pPr algn="l">
              <a:spcAft>
                <a:spcPts val="500"/>
              </a:spcAft>
            </a:pPr>
            <a:r>
              <a:rPr sz="2200" b="1">
                <a:solidFill>
                  <a:srgbClr val="F4F7FF"/>
                </a:solidFill>
                <a:latin typeface="Aptos"/>
              </a:rPr>
              <a:t>The contribution is the integration, handwriting fine-tuning, editable workflow, and evaluation—not the invention of EasyOCR or TrOCR.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92608"/>
            <a:ext cx="10881360" cy="502920"/>
          </a:xfrm>
          <a:prstGeom prst="rect">
            <a:avLst/>
          </a:prstGeom>
          <a:noFill/>
        </p:spPr>
        <p:txBody>
          <a:bodyPr wrap="square" lIns="54864" tIns="36576" rIns="54864" bIns="36576">
            <a:spAutoFit/>
          </a:bodyPr>
          <a:lstStyle/>
          <a:p>
            <a:pPr algn="l">
              <a:spcAft>
                <a:spcPts val="500"/>
              </a:spcAft>
            </a:pPr>
            <a:r>
              <a:rPr lang="en-IN" sz="2700" b="1" dirty="0">
                <a:solidFill>
                  <a:srgbClr val="F4F7FF"/>
                </a:solidFill>
                <a:latin typeface="Aptos"/>
              </a:rPr>
              <a:t>09</a:t>
            </a:r>
            <a:r>
              <a:rPr sz="2700" b="1" dirty="0">
                <a:solidFill>
                  <a:srgbClr val="F4F7FF"/>
                </a:solidFill>
                <a:latin typeface="Aptos"/>
              </a:rPr>
              <a:t> | Limitations &amp; Future Work</a:t>
            </a:r>
          </a:p>
        </p:txBody>
      </p:sp>
      <p:sp>
        <p:nvSpPr>
          <p:cNvPr id="4" name="TextBox 3"/>
          <p:cNvSpPr txBox="1"/>
          <p:nvPr/>
        </p:nvSpPr>
        <p:spPr>
          <a:xfrm>
            <a:off x="557784" y="822960"/>
            <a:ext cx="10789920" cy="320040"/>
          </a:xfrm>
          <a:prstGeom prst="rect">
            <a:avLst/>
          </a:prstGeom>
          <a:noFill/>
        </p:spPr>
        <p:txBody>
          <a:bodyPr wrap="square" lIns="54864" tIns="36576" rIns="54864" bIns="36576">
            <a:spAutoFit/>
          </a:bodyPr>
          <a:lstStyle/>
          <a:p>
            <a:pPr algn="l">
              <a:spcAft>
                <a:spcPts val="500"/>
              </a:spcAft>
            </a:pPr>
            <a:r>
              <a:rPr sz="1200" b="0">
                <a:solidFill>
                  <a:srgbClr val="AFBCD5"/>
                </a:solidFill>
                <a:latin typeface="Aptos"/>
              </a:rPr>
              <a:t>Known constraints and a realistic improvement plan</a:t>
            </a:r>
          </a:p>
        </p:txBody>
      </p:sp>
      <p:sp>
        <p:nvSpPr>
          <p:cNvPr id="5" name="TextBox 4"/>
          <p:cNvSpPr txBox="1"/>
          <p:nvPr/>
        </p:nvSpPr>
        <p:spPr>
          <a:xfrm>
            <a:off x="7955279" y="109728"/>
            <a:ext cx="3749039" cy="201168"/>
          </a:xfrm>
          <a:prstGeom prst="rect">
            <a:avLst/>
          </a:prstGeom>
          <a:noFill/>
        </p:spPr>
        <p:txBody>
          <a:bodyPr wrap="square" lIns="54864" tIns="36576" rIns="54864" bIns="36576">
            <a:spAutoFit/>
          </a:bodyPr>
          <a:lstStyle/>
          <a:p>
            <a:pPr algn="r">
              <a:spcAft>
                <a:spcPts val="500"/>
              </a:spcAft>
            </a:pPr>
            <a:r>
              <a:rPr sz="800" b="1">
                <a:solidFill>
                  <a:srgbClr val="36D3E0"/>
                </a:solidFill>
                <a:latin typeface="Aptos"/>
              </a:rPr>
              <a:t>OCR_MINI / PROJECT REVIEW</a:t>
            </a:r>
          </a:p>
        </p:txBody>
      </p:sp>
      <p:sp>
        <p:nvSpPr>
          <p:cNvPr id="6" name="TextBox 5"/>
          <p:cNvSpPr txBox="1"/>
          <p:nvPr/>
        </p:nvSpPr>
        <p:spPr>
          <a:xfrm>
            <a:off x="11320272" y="6473952"/>
            <a:ext cx="365760" cy="182880"/>
          </a:xfrm>
          <a:prstGeom prst="rect">
            <a:avLst/>
          </a:prstGeom>
          <a:noFill/>
        </p:spPr>
        <p:txBody>
          <a:bodyPr wrap="square" lIns="54864" tIns="36576" rIns="54864" bIns="36576">
            <a:spAutoFit/>
          </a:bodyPr>
          <a:lstStyle/>
          <a:p>
            <a:pPr algn="r">
              <a:spcAft>
                <a:spcPts val="500"/>
              </a:spcAft>
            </a:pPr>
            <a:r>
              <a:rPr sz="900" b="1">
                <a:solidFill>
                  <a:srgbClr val="AFBCD5"/>
                </a:solidFill>
                <a:latin typeface="Aptos"/>
              </a:rPr>
              <a:t>11</a:t>
            </a:r>
          </a:p>
        </p:txBody>
      </p:sp>
      <p:sp>
        <p:nvSpPr>
          <p:cNvPr id="7" name="Rounded Rectangle 6"/>
          <p:cNvSpPr/>
          <p:nvPr/>
        </p:nvSpPr>
        <p:spPr>
          <a:xfrm>
            <a:off x="731520" y="1417320"/>
            <a:ext cx="5074920" cy="196596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27048"/>
            <a:ext cx="50292" cy="1746504"/>
          </a:xfrm>
          <a:prstGeom prst="rect">
            <a:avLst/>
          </a:prstGeom>
          <a:solidFill>
            <a:srgbClr val="FFC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563624"/>
            <a:ext cx="4727448" cy="320040"/>
          </a:xfrm>
          <a:prstGeom prst="rect">
            <a:avLst/>
          </a:prstGeom>
          <a:noFill/>
        </p:spPr>
        <p:txBody>
          <a:bodyPr wrap="square" lIns="54864" tIns="36576" rIns="54864" bIns="36576">
            <a:spAutoFit/>
          </a:bodyPr>
          <a:lstStyle/>
          <a:p>
            <a:pPr algn="l">
              <a:spcAft>
                <a:spcPts val="500"/>
              </a:spcAft>
            </a:pPr>
            <a:r>
              <a:rPr sz="1600" b="1">
                <a:solidFill>
                  <a:srgbClr val="FFC35E"/>
                </a:solidFill>
                <a:latin typeface="Aptos"/>
              </a:rPr>
              <a:t>Current limitations</a:t>
            </a:r>
          </a:p>
        </p:txBody>
      </p:sp>
      <p:sp>
        <p:nvSpPr>
          <p:cNvPr id="10" name="TextBox 9"/>
          <p:cNvSpPr txBox="1"/>
          <p:nvPr/>
        </p:nvSpPr>
        <p:spPr>
          <a:xfrm>
            <a:off x="914400" y="1956816"/>
            <a:ext cx="4727448" cy="135331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 Decorative cursive may be difficult</a:t>
            </a:r>
          </a:p>
          <a:p>
            <a:pPr algn="l">
              <a:spcAft>
                <a:spcPts val="500"/>
              </a:spcAft>
            </a:pPr>
            <a:r>
              <a:rPr sz="1400" b="0">
                <a:solidFill>
                  <a:srgbClr val="F4F7FF"/>
                </a:solidFill>
                <a:latin typeface="Aptos"/>
              </a:rPr>
              <a:t>• CPU inference can be slow</a:t>
            </a:r>
          </a:p>
          <a:p>
            <a:pPr algn="l">
              <a:spcAft>
                <a:spcPts val="500"/>
              </a:spcAft>
            </a:pPr>
            <a:r>
              <a:rPr sz="1400" b="0">
                <a:solidFill>
                  <a:srgbClr val="F4F7FF"/>
                </a:solidFill>
                <a:latin typeface="Aptos"/>
              </a:rPr>
              <a:t>• OCR output can contain errors</a:t>
            </a:r>
          </a:p>
          <a:p>
            <a:pPr algn="l">
              <a:spcAft>
                <a:spcPts val="500"/>
              </a:spcAft>
            </a:pPr>
            <a:r>
              <a:rPr sz="1400" b="0">
                <a:solidFill>
                  <a:srgbClr val="F4F7FF"/>
                </a:solidFill>
                <a:latin typeface="Aptos"/>
              </a:rPr>
              <a:t>• Complex layouts need better handling</a:t>
            </a:r>
          </a:p>
        </p:txBody>
      </p:sp>
      <p:sp>
        <p:nvSpPr>
          <p:cNvPr id="11" name="Rounded Rectangle 10"/>
          <p:cNvSpPr/>
          <p:nvPr/>
        </p:nvSpPr>
        <p:spPr>
          <a:xfrm>
            <a:off x="6263640" y="1417320"/>
            <a:ext cx="5074920" cy="196596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527048"/>
            <a:ext cx="50292" cy="174650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563624"/>
            <a:ext cx="472744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Future work</a:t>
            </a:r>
          </a:p>
        </p:txBody>
      </p:sp>
      <p:sp>
        <p:nvSpPr>
          <p:cNvPr id="14" name="TextBox 13"/>
          <p:cNvSpPr txBox="1"/>
          <p:nvPr/>
        </p:nvSpPr>
        <p:spPr>
          <a:xfrm>
            <a:off x="6446520" y="1956816"/>
            <a:ext cx="4727448" cy="135331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 Improve deskewing and line detection</a:t>
            </a:r>
          </a:p>
          <a:p>
            <a:pPr algn="l">
              <a:spcAft>
                <a:spcPts val="500"/>
              </a:spcAft>
            </a:pPr>
            <a:r>
              <a:rPr sz="1400" b="0">
                <a:solidFill>
                  <a:srgbClr val="F4F7FF"/>
                </a:solidFill>
                <a:latin typeface="Aptos"/>
              </a:rPr>
              <a:t>• Add more diverse handwriting samples</a:t>
            </a:r>
          </a:p>
          <a:p>
            <a:pPr algn="l">
              <a:spcAft>
                <a:spcPts val="500"/>
              </a:spcAft>
            </a:pPr>
            <a:r>
              <a:rPr sz="1400" b="0">
                <a:solidFill>
                  <a:srgbClr val="F4F7FF"/>
                </a:solidFill>
                <a:latin typeface="Aptos"/>
              </a:rPr>
              <a:t>• Add confidence / review warnings</a:t>
            </a:r>
          </a:p>
          <a:p>
            <a:pPr algn="l">
              <a:spcAft>
                <a:spcPts val="500"/>
              </a:spcAft>
            </a:pPr>
            <a:r>
              <a:rPr sz="1400" b="0">
                <a:solidFill>
                  <a:srgbClr val="F4F7FF"/>
                </a:solidFill>
                <a:latin typeface="Aptos"/>
              </a:rPr>
              <a:t>• Improve table and layout extraction</a:t>
            </a:r>
          </a:p>
        </p:txBody>
      </p:sp>
      <p:sp>
        <p:nvSpPr>
          <p:cNvPr id="15" name="TextBox 14"/>
          <p:cNvSpPr txBox="1"/>
          <p:nvPr/>
        </p:nvSpPr>
        <p:spPr>
          <a:xfrm>
            <a:off x="868680" y="3977639"/>
            <a:ext cx="1828800" cy="320040"/>
          </a:xfrm>
          <a:prstGeom prst="rect">
            <a:avLst/>
          </a:prstGeom>
          <a:noFill/>
        </p:spPr>
        <p:txBody>
          <a:bodyPr wrap="square" lIns="54864" tIns="36576" rIns="54864" bIns="36576">
            <a:spAutoFit/>
          </a:bodyPr>
          <a:lstStyle/>
          <a:p>
            <a:pPr algn="l">
              <a:spcAft>
                <a:spcPts val="500"/>
              </a:spcAft>
            </a:pPr>
            <a:r>
              <a:rPr sz="1700" b="1">
                <a:solidFill>
                  <a:srgbClr val="66DCAA"/>
                </a:solidFill>
                <a:latin typeface="Aptos"/>
              </a:rPr>
              <a:t>Reliability</a:t>
            </a:r>
          </a:p>
        </p:txBody>
      </p:sp>
      <p:sp>
        <p:nvSpPr>
          <p:cNvPr id="16" name="TextBox 15"/>
          <p:cNvSpPr txBox="1"/>
          <p:nvPr/>
        </p:nvSpPr>
        <p:spPr>
          <a:xfrm>
            <a:off x="868680" y="4389120"/>
            <a:ext cx="10424160" cy="822960"/>
          </a:xfrm>
          <a:prstGeom prst="rect">
            <a:avLst/>
          </a:prstGeom>
          <a:noFill/>
        </p:spPr>
        <p:txBody>
          <a:bodyPr wrap="square" lIns="54864" tIns="36576" rIns="54864" bIns="36576">
            <a:spAutoFit/>
          </a:bodyPr>
          <a:lstStyle/>
          <a:p>
            <a:pPr algn="l">
              <a:spcAft>
                <a:spcPts val="500"/>
              </a:spcAft>
            </a:pPr>
            <a:r>
              <a:rPr sz="2100" b="1">
                <a:solidFill>
                  <a:srgbClr val="F4F7FF"/>
                </a:solidFill>
                <a:latin typeface="Aptos"/>
              </a:rPr>
              <a:t>Keep the original image and verify important names, numbers, dates, and technical content before relying on OCR output.</a:t>
            </a:r>
          </a:p>
        </p:txBody>
      </p:sp>
      <p:sp>
        <p:nvSpPr>
          <p:cNvPr id="17" name="Rounded Rectangle 16"/>
          <p:cNvSpPr/>
          <p:nvPr/>
        </p:nvSpPr>
        <p:spPr>
          <a:xfrm>
            <a:off x="868680" y="5623560"/>
            <a:ext cx="1554480" cy="301752"/>
          </a:xfrm>
          <a:prstGeom prst="roundRect">
            <a:avLst/>
          </a:prstGeom>
          <a:solidFill>
            <a:srgbClr val="1D2A4B"/>
          </a:solidFill>
          <a:ln>
            <a:solidFill>
              <a:srgbClr val="FFC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5641848"/>
            <a:ext cx="1499616" cy="219456"/>
          </a:xfrm>
          <a:prstGeom prst="rect">
            <a:avLst/>
          </a:prstGeom>
          <a:noFill/>
        </p:spPr>
        <p:txBody>
          <a:bodyPr wrap="square" lIns="54864" tIns="36576" rIns="54864" bIns="36576">
            <a:spAutoFit/>
          </a:bodyPr>
          <a:lstStyle/>
          <a:p>
            <a:pPr algn="ctr">
              <a:spcAft>
                <a:spcPts val="500"/>
              </a:spcAft>
            </a:pPr>
            <a:r>
              <a:rPr sz="900" b="1">
                <a:solidFill>
                  <a:srgbClr val="FFC35E"/>
                </a:solidFill>
                <a:latin typeface="Aptos"/>
              </a:rPr>
              <a:t>HUMAN REVIEW</a:t>
            </a:r>
          </a:p>
        </p:txBody>
      </p:sp>
      <p:sp>
        <p:nvSpPr>
          <p:cNvPr id="19" name="Rounded Rectangle 18"/>
          <p:cNvSpPr/>
          <p:nvPr/>
        </p:nvSpPr>
        <p:spPr>
          <a:xfrm>
            <a:off x="2606040" y="5623560"/>
            <a:ext cx="2057400" cy="301752"/>
          </a:xfrm>
          <a:prstGeom prst="roundRect">
            <a:avLst/>
          </a:prstGeom>
          <a:solidFill>
            <a:srgbClr val="1D2A4B"/>
          </a:solidFill>
          <a:ln>
            <a:solidFill>
              <a:srgbClr val="36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33472" y="5641848"/>
            <a:ext cx="2002536" cy="219456"/>
          </a:xfrm>
          <a:prstGeom prst="rect">
            <a:avLst/>
          </a:prstGeom>
          <a:noFill/>
        </p:spPr>
        <p:txBody>
          <a:bodyPr wrap="square" lIns="54864" tIns="36576" rIns="54864" bIns="36576">
            <a:spAutoFit/>
          </a:bodyPr>
          <a:lstStyle/>
          <a:p>
            <a:pPr algn="ctr">
              <a:spcAft>
                <a:spcPts val="500"/>
              </a:spcAft>
            </a:pPr>
            <a:r>
              <a:rPr sz="900" b="1">
                <a:solidFill>
                  <a:srgbClr val="36D3E0"/>
                </a:solidFill>
                <a:latin typeface="Aptos"/>
              </a:rPr>
              <a:t>ITERATIVE EVALUATION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6400800" cy="502920"/>
          </a:xfrm>
          <a:prstGeom prst="rect">
            <a:avLst/>
          </a:prstGeom>
          <a:noFill/>
        </p:spPr>
        <p:txBody>
          <a:bodyPr wrap="square" lIns="54864" tIns="36576" rIns="54864" bIns="36576">
            <a:spAutoFit/>
          </a:bodyPr>
          <a:lstStyle/>
          <a:p>
            <a:pPr algn="l">
              <a:spcAft>
                <a:spcPts val="500"/>
              </a:spcAft>
            </a:pPr>
            <a:r>
              <a:rPr sz="2800" b="1" dirty="0">
                <a:solidFill>
                  <a:srgbClr val="F4F7FF"/>
                </a:solidFill>
                <a:latin typeface="Aptos"/>
              </a:rPr>
              <a:t>1</a:t>
            </a:r>
            <a:r>
              <a:rPr lang="en-IN" sz="2800" b="1" dirty="0">
                <a:solidFill>
                  <a:srgbClr val="F4F7FF"/>
                </a:solidFill>
                <a:latin typeface="Aptos"/>
              </a:rPr>
              <a:t>0</a:t>
            </a:r>
            <a:r>
              <a:rPr sz="2800" b="1" dirty="0">
                <a:solidFill>
                  <a:srgbClr val="F4F7FF"/>
                </a:solidFill>
                <a:latin typeface="Aptos"/>
              </a:rPr>
              <a:t> | Conclusion</a:t>
            </a:r>
          </a:p>
        </p:txBody>
      </p:sp>
      <p:sp>
        <p:nvSpPr>
          <p:cNvPr id="4" name="TextBox 3"/>
          <p:cNvSpPr txBox="1"/>
          <p:nvPr/>
        </p:nvSpPr>
        <p:spPr>
          <a:xfrm>
            <a:off x="822960" y="1234440"/>
            <a:ext cx="10424160" cy="960120"/>
          </a:xfrm>
          <a:prstGeom prst="rect">
            <a:avLst/>
          </a:prstGeom>
          <a:noFill/>
        </p:spPr>
        <p:txBody>
          <a:bodyPr wrap="square" lIns="54864" tIns="36576" rIns="54864" bIns="36576">
            <a:spAutoFit/>
          </a:bodyPr>
          <a:lstStyle/>
          <a:p>
            <a:pPr algn="l">
              <a:spcAft>
                <a:spcPts val="500"/>
              </a:spcAft>
            </a:pPr>
            <a:r>
              <a:rPr sz="2700" b="1">
                <a:solidFill>
                  <a:srgbClr val="36D3E0"/>
                </a:solidFill>
                <a:latin typeface="Aptos"/>
              </a:rPr>
              <a:t>OCR_MINI converts image-based text into editable, reusable Markdown through a simple web workflow.</a:t>
            </a:r>
          </a:p>
        </p:txBody>
      </p:sp>
      <p:sp>
        <p:nvSpPr>
          <p:cNvPr id="5" name="Rounded Rectangle 4"/>
          <p:cNvSpPr/>
          <p:nvPr/>
        </p:nvSpPr>
        <p:spPr>
          <a:xfrm>
            <a:off x="822960" y="2834640"/>
            <a:ext cx="333756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944368"/>
            <a:ext cx="50292" cy="1197864"/>
          </a:xfrm>
          <a:prstGeom prst="rect">
            <a:avLst/>
          </a:prstGeom>
          <a:solidFill>
            <a:srgbClr val="36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980944"/>
            <a:ext cx="2990088" cy="320040"/>
          </a:xfrm>
          <a:prstGeom prst="rect">
            <a:avLst/>
          </a:prstGeom>
          <a:noFill/>
        </p:spPr>
        <p:txBody>
          <a:bodyPr wrap="square" lIns="54864" tIns="36576" rIns="54864" bIns="36576">
            <a:spAutoFit/>
          </a:bodyPr>
          <a:lstStyle/>
          <a:p>
            <a:pPr algn="l">
              <a:spcAft>
                <a:spcPts val="500"/>
              </a:spcAft>
            </a:pPr>
            <a:r>
              <a:rPr sz="1600" b="1">
                <a:solidFill>
                  <a:srgbClr val="36D3E0"/>
                </a:solidFill>
                <a:latin typeface="Aptos"/>
              </a:rPr>
              <a:t>Two OCR paths</a:t>
            </a:r>
          </a:p>
        </p:txBody>
      </p:sp>
      <p:sp>
        <p:nvSpPr>
          <p:cNvPr id="8" name="TextBox 7"/>
          <p:cNvSpPr txBox="1"/>
          <p:nvPr/>
        </p:nvSpPr>
        <p:spPr>
          <a:xfrm>
            <a:off x="1005840" y="3374136"/>
            <a:ext cx="2990088" cy="804672"/>
          </a:xfrm>
          <a:prstGeom prst="rect">
            <a:avLst/>
          </a:prstGeom>
          <a:noFill/>
        </p:spPr>
        <p:txBody>
          <a:bodyPr wrap="square" lIns="54864" tIns="36576" rIns="54864" bIns="36576">
            <a:spAutoFit/>
          </a:bodyPr>
          <a:lstStyle/>
          <a:p>
            <a:pPr algn="l">
              <a:spcAft>
                <a:spcPts val="500"/>
              </a:spcAft>
            </a:pPr>
            <a:r>
              <a:rPr sz="1500" b="0">
                <a:solidFill>
                  <a:srgbClr val="F4F7FF"/>
                </a:solidFill>
                <a:latin typeface="Aptos"/>
              </a:rPr>
              <a:t>EasyOCR + fine-tuned TrOCR</a:t>
            </a:r>
          </a:p>
        </p:txBody>
      </p:sp>
      <p:sp>
        <p:nvSpPr>
          <p:cNvPr id="9" name="Rounded Rectangle 8"/>
          <p:cNvSpPr/>
          <p:nvPr/>
        </p:nvSpPr>
        <p:spPr>
          <a:xfrm>
            <a:off x="4434840" y="2834640"/>
            <a:ext cx="333756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2944368"/>
            <a:ext cx="50292" cy="1197864"/>
          </a:xfrm>
          <a:prstGeom prst="rect">
            <a:avLst/>
          </a:prstGeom>
          <a:solidFill>
            <a:srgbClr val="9A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980944"/>
            <a:ext cx="2990088" cy="320040"/>
          </a:xfrm>
          <a:prstGeom prst="rect">
            <a:avLst/>
          </a:prstGeom>
          <a:noFill/>
        </p:spPr>
        <p:txBody>
          <a:bodyPr wrap="square" lIns="54864" tIns="36576" rIns="54864" bIns="36576">
            <a:spAutoFit/>
          </a:bodyPr>
          <a:lstStyle/>
          <a:p>
            <a:pPr algn="l">
              <a:spcAft>
                <a:spcPts val="500"/>
              </a:spcAft>
            </a:pPr>
            <a:r>
              <a:rPr sz="1600" b="1">
                <a:solidFill>
                  <a:srgbClr val="9A75FF"/>
                </a:solidFill>
                <a:latin typeface="Aptos"/>
              </a:rPr>
              <a:t>Measured evaluation</a:t>
            </a:r>
          </a:p>
        </p:txBody>
      </p:sp>
      <p:sp>
        <p:nvSpPr>
          <p:cNvPr id="12" name="TextBox 11"/>
          <p:cNvSpPr txBox="1"/>
          <p:nvPr/>
        </p:nvSpPr>
        <p:spPr>
          <a:xfrm>
            <a:off x="4617720" y="3374136"/>
            <a:ext cx="2990088" cy="804672"/>
          </a:xfrm>
          <a:prstGeom prst="rect">
            <a:avLst/>
          </a:prstGeom>
          <a:noFill/>
        </p:spPr>
        <p:txBody>
          <a:bodyPr wrap="square" lIns="54864" tIns="36576" rIns="54864" bIns="36576">
            <a:spAutoFit/>
          </a:bodyPr>
          <a:lstStyle/>
          <a:p>
            <a:pPr algn="l">
              <a:spcAft>
                <a:spcPts val="500"/>
              </a:spcAft>
            </a:pPr>
            <a:r>
              <a:rPr sz="1400" b="0">
                <a:solidFill>
                  <a:srgbClr val="F4F7FF"/>
                </a:solidFill>
                <a:latin typeface="Aptos"/>
              </a:rPr>
              <a:t>CER 6.44% • WER 14.77%</a:t>
            </a:r>
          </a:p>
        </p:txBody>
      </p:sp>
      <p:sp>
        <p:nvSpPr>
          <p:cNvPr id="13" name="Rounded Rectangle 12"/>
          <p:cNvSpPr/>
          <p:nvPr/>
        </p:nvSpPr>
        <p:spPr>
          <a:xfrm>
            <a:off x="8046720" y="2834640"/>
            <a:ext cx="3337560" cy="1417320"/>
          </a:xfrm>
          <a:prstGeom prst="roundRect">
            <a:avLst/>
          </a:prstGeom>
          <a:solidFill>
            <a:srgbClr val="151F3A"/>
          </a:solidFill>
          <a:ln>
            <a:solidFill>
              <a:srgbClr val="1D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2944368"/>
            <a:ext cx="50292" cy="1197864"/>
          </a:xfrm>
          <a:prstGeom prst="rect">
            <a:avLst/>
          </a:prstGeom>
          <a:solidFill>
            <a:srgbClr val="66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2980944"/>
            <a:ext cx="2990088" cy="320040"/>
          </a:xfrm>
          <a:prstGeom prst="rect">
            <a:avLst/>
          </a:prstGeom>
          <a:noFill/>
        </p:spPr>
        <p:txBody>
          <a:bodyPr wrap="square" lIns="54864" tIns="36576" rIns="54864" bIns="36576">
            <a:spAutoFit/>
          </a:bodyPr>
          <a:lstStyle/>
          <a:p>
            <a:pPr algn="l">
              <a:spcAft>
                <a:spcPts val="500"/>
              </a:spcAft>
            </a:pPr>
            <a:r>
              <a:rPr sz="1600" b="1">
                <a:solidFill>
                  <a:srgbClr val="66DCAA"/>
                </a:solidFill>
                <a:latin typeface="Aptos"/>
              </a:rPr>
              <a:t>Usable output</a:t>
            </a:r>
          </a:p>
        </p:txBody>
      </p:sp>
      <p:sp>
        <p:nvSpPr>
          <p:cNvPr id="16" name="TextBox 15"/>
          <p:cNvSpPr txBox="1"/>
          <p:nvPr/>
        </p:nvSpPr>
        <p:spPr>
          <a:xfrm>
            <a:off x="8229600" y="3374136"/>
            <a:ext cx="2990088" cy="804672"/>
          </a:xfrm>
          <a:prstGeom prst="rect">
            <a:avLst/>
          </a:prstGeom>
          <a:noFill/>
        </p:spPr>
        <p:txBody>
          <a:bodyPr wrap="square" lIns="54864" tIns="36576" rIns="54864" bIns="36576">
            <a:spAutoFit/>
          </a:bodyPr>
          <a:lstStyle/>
          <a:p>
            <a:pPr algn="l">
              <a:spcAft>
                <a:spcPts val="500"/>
              </a:spcAft>
            </a:pPr>
            <a:r>
              <a:rPr sz="1500" b="0">
                <a:solidFill>
                  <a:srgbClr val="F4F7FF"/>
                </a:solidFill>
                <a:latin typeface="Aptos"/>
              </a:rPr>
              <a:t>Edit → Markdown → download</a:t>
            </a:r>
          </a:p>
        </p:txBody>
      </p:sp>
      <p:sp>
        <p:nvSpPr>
          <p:cNvPr id="17" name="TextBox 16"/>
          <p:cNvSpPr txBox="1"/>
          <p:nvPr/>
        </p:nvSpPr>
        <p:spPr>
          <a:xfrm>
            <a:off x="868680" y="4983480"/>
            <a:ext cx="3931920" cy="594360"/>
          </a:xfrm>
          <a:prstGeom prst="rect">
            <a:avLst/>
          </a:prstGeom>
          <a:noFill/>
        </p:spPr>
        <p:txBody>
          <a:bodyPr wrap="square" lIns="54864" tIns="36576" rIns="54864" bIns="36576">
            <a:spAutoFit/>
          </a:bodyPr>
          <a:lstStyle/>
          <a:p>
            <a:pPr algn="l">
              <a:spcAft>
                <a:spcPts val="500"/>
              </a:spcAft>
            </a:pPr>
            <a:r>
              <a:rPr sz="3200" b="1">
                <a:solidFill>
                  <a:srgbClr val="F4F7FF"/>
                </a:solidFill>
                <a:latin typeface="Aptos"/>
              </a:rPr>
              <a:t>Thank you</a:t>
            </a:r>
          </a:p>
        </p:txBody>
      </p:sp>
      <p:sp>
        <p:nvSpPr>
          <p:cNvPr id="18" name="TextBox 17"/>
          <p:cNvSpPr txBox="1"/>
          <p:nvPr/>
        </p:nvSpPr>
        <p:spPr>
          <a:xfrm>
            <a:off x="896112" y="5623560"/>
            <a:ext cx="5029200" cy="320040"/>
          </a:xfrm>
          <a:prstGeom prst="rect">
            <a:avLst/>
          </a:prstGeom>
          <a:noFill/>
        </p:spPr>
        <p:txBody>
          <a:bodyPr wrap="square" lIns="54864" tIns="36576" rIns="54864" bIns="36576">
            <a:spAutoFit/>
          </a:bodyPr>
          <a:lstStyle/>
          <a:p>
            <a:pPr algn="l">
              <a:spcAft>
                <a:spcPts val="500"/>
              </a:spcAft>
            </a:pPr>
            <a:r>
              <a:rPr sz="1500" b="0">
                <a:solidFill>
                  <a:srgbClr val="AFBCD5"/>
                </a:solidFill>
                <a:latin typeface="Aptos"/>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2244</Words>
  <Application>Microsoft Office PowerPoint</Application>
  <PresentationFormat>Widescreen</PresentationFormat>
  <Paragraphs>301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OCR_MINI Project Review - Final Results</dc:title>
  <dc:subject>OCR web application with EasyOCR, fine-tuned TrOCR and Markdown export</dc:subject>
  <dc:creator>OCR_MINI Project</dc:creator>
  <cp:keywords/>
  <dc:description>generated using python-pptx</dc:description>
  <cp:lastModifiedBy>Bharath. K. M KABBINAKERE</cp:lastModifiedBy>
  <cp:revision>3</cp:revision>
  <dcterms:created xsi:type="dcterms:W3CDTF">2013-01-27T09:14:16Z</dcterms:created>
  <dcterms:modified xsi:type="dcterms:W3CDTF">2026-10-27T04:33:40Z</dcterms:modified>
  <cp:category/>
</cp:coreProperties>
</file>